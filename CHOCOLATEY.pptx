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09" r:id="rId1"/>
  </p:sldMasterIdLst>
  <p:notesMasterIdLst>
    <p:notesMasterId r:id="rId17"/>
  </p:notesMasterIdLst>
  <p:sldIdLst>
    <p:sldId id="256" r:id="rId2"/>
    <p:sldId id="270" r:id="rId3"/>
    <p:sldId id="257" r:id="rId4"/>
    <p:sldId id="264" r:id="rId5"/>
    <p:sldId id="267" r:id="rId6"/>
    <p:sldId id="265" r:id="rId7"/>
    <p:sldId id="266" r:id="rId8"/>
    <p:sldId id="258" r:id="rId9"/>
    <p:sldId id="259" r:id="rId10"/>
    <p:sldId id="260" r:id="rId11"/>
    <p:sldId id="262" r:id="rId12"/>
    <p:sldId id="261" r:id="rId13"/>
    <p:sldId id="268" r:id="rId14"/>
    <p:sldId id="263" r:id="rId15"/>
    <p:sldId id="269" r:id="rId1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3241"/>
    <a:srgbClr val="386079"/>
    <a:srgbClr val="22303D"/>
    <a:srgbClr val="0D0F0E"/>
    <a:srgbClr val="202F3C"/>
    <a:srgbClr val="080F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5706"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799D2BA8-A38A-4CA6-89DA-31E88B10EF89}" type="datetimeFigureOut">
              <a:rPr lang="he-IL" smtClean="0"/>
              <a:t>ה'/שבט/תשפ"ו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83C3C476-133C-4ADB-A596-7D34F4EC1F94}" type="slidenum">
              <a:rPr lang="he-IL" smtClean="0"/>
              <a:t>‹#›</a:t>
            </a:fld>
            <a:endParaRPr lang="he-IL"/>
          </a:p>
        </p:txBody>
      </p:sp>
    </p:spTree>
    <p:extLst>
      <p:ext uri="{BB962C8B-B14F-4D97-AF65-F5344CB8AC3E}">
        <p14:creationId xmlns:p14="http://schemas.microsoft.com/office/powerpoint/2010/main" val="48354696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sz="1200" b="0" i="0" kern="1200" dirty="0">
                <a:solidFill>
                  <a:schemeClr val="tx1"/>
                </a:solidFill>
                <a:effectLst/>
                <a:latin typeface="+mn-lt"/>
                <a:ea typeface="+mn-ea"/>
                <a:cs typeface="+mn-cs"/>
              </a:rPr>
              <a:t>שלום לכולם, אז נתחיל בהצגה עצמית, אני רביד שלו, ממערכות מידע ועמית דרעי מתוכנה, שנה שלישית, והיום אנחנו נדבר על </a:t>
            </a:r>
            <a:r>
              <a:rPr lang="en-US" sz="1200" b="0" i="0" kern="1200" dirty="0">
                <a:solidFill>
                  <a:schemeClr val="tx1"/>
                </a:solidFill>
                <a:effectLst/>
                <a:latin typeface="+mn-lt"/>
                <a:ea typeface="+mn-ea"/>
                <a:cs typeface="+mn-cs"/>
              </a:rPr>
              <a:t> chocolatey, </a:t>
            </a:r>
            <a:r>
              <a:rPr lang="he-IL" sz="1200" b="0" i="0" kern="1200" dirty="0">
                <a:solidFill>
                  <a:schemeClr val="tx1"/>
                </a:solidFill>
                <a:effectLst/>
                <a:latin typeface="+mn-lt"/>
                <a:ea typeface="+mn-ea"/>
                <a:cs typeface="+mn-cs"/>
              </a:rPr>
              <a:t>יש למישהו מושג מה זה? או יצא לו לשמוע על זה?</a:t>
            </a:r>
          </a:p>
          <a:p>
            <a:r>
              <a:rPr lang="he-IL" sz="1200" b="0" i="0" kern="1200" dirty="0">
                <a:solidFill>
                  <a:schemeClr val="tx1"/>
                </a:solidFill>
                <a:effectLst/>
                <a:latin typeface="+mn-lt"/>
                <a:ea typeface="+mn-ea"/>
                <a:cs typeface="+mn-cs"/>
              </a:rPr>
              <a:t>- </a:t>
            </a:r>
            <a:r>
              <a:rPr lang="he-IL" dirty="0"/>
              <a:t>היום נראה איך הכלי הזה משנה את כל הדרך שבה אנחנו עובדים עם </a:t>
            </a:r>
            <a:r>
              <a:rPr lang="en-US" dirty="0"/>
              <a:t>Windows</a:t>
            </a:r>
            <a:r>
              <a:rPr lang="he-IL" dirty="0"/>
              <a:t>, ואולי מישהו מאיתנו יתחיל לעבוד דרכו, אולי גם אני כשיגיע לי המחשב החדש. תכף תבינו על מה אני מדבר.</a:t>
            </a:r>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1</a:t>
            </a:fld>
            <a:endParaRPr lang="he-IL"/>
          </a:p>
        </p:txBody>
      </p:sp>
    </p:spTree>
    <p:extLst>
      <p:ext uri="{BB962C8B-B14F-4D97-AF65-F5344CB8AC3E}">
        <p14:creationId xmlns:p14="http://schemas.microsoft.com/office/powerpoint/2010/main" val="369802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53D76-7F86-0DDA-5443-49B2140D2D0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D18887C-CD8A-5E73-73EB-D9DAA418A33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FC87BB6-F2B0-495C-B440-D88F7AF0B7CD}"/>
              </a:ext>
            </a:extLst>
          </p:cNvPr>
          <p:cNvSpPr>
            <a:spLocks noGrp="1"/>
          </p:cNvSpPr>
          <p:nvPr>
            <p:ph type="body" idx="1"/>
          </p:nvPr>
        </p:nvSpPr>
        <p:spPr/>
        <p:txBody>
          <a:bodyPr/>
          <a:lstStyle/>
          <a:p>
            <a:r>
              <a:rPr lang="he-IL" b="1" u="none" dirty="0"/>
              <a:t>מנהל חבילות עבור </a:t>
            </a:r>
            <a:r>
              <a:rPr lang="en-US" b="1" u="none" dirty="0"/>
              <a:t>windows</a:t>
            </a:r>
            <a:r>
              <a:rPr lang="he-IL" b="1" u="none" dirty="0"/>
              <a:t>, ובמילים פשוטות</a:t>
            </a:r>
            <a:r>
              <a:rPr lang="en-US" b="1" u="none" dirty="0"/>
              <a:t> - </a:t>
            </a:r>
            <a:r>
              <a:rPr lang="he-IL" b="1" u="none" dirty="0"/>
              <a:t>אוטומציה לחיפוש, התקנה</a:t>
            </a:r>
            <a:r>
              <a:rPr lang="en-US" b="1" u="none" dirty="0"/>
              <a:t> </a:t>
            </a:r>
            <a:r>
              <a:rPr lang="he-IL" b="1" u="none" dirty="0"/>
              <a:t> והסרה, ועדכון.</a:t>
            </a:r>
            <a:br>
              <a:rPr lang="en-US" b="1" u="sng" dirty="0"/>
            </a:br>
            <a:r>
              <a:rPr lang="he-IL" b="1" u="sng" dirty="0"/>
              <a:t>ריכוז התוכנות</a:t>
            </a:r>
            <a:r>
              <a:rPr lang="he-IL" dirty="0"/>
              <a:t>: זוכרים את עניין החיפוש ברשת בכל אתר אחר כדי למצוא את התוכנה הרצויה? אז באתר של </a:t>
            </a:r>
            <a:r>
              <a:rPr lang="en-US" dirty="0"/>
              <a:t>chocolatey</a:t>
            </a:r>
            <a:r>
              <a:rPr lang="he-IL" dirty="0"/>
              <a:t> </a:t>
            </a:r>
            <a:r>
              <a:rPr lang="he-IL" dirty="0" err="1"/>
              <a:t>הכל</a:t>
            </a:r>
            <a:r>
              <a:rPr lang="he-IL" dirty="0"/>
              <a:t> נמצא באתר אחד שמרכז את </a:t>
            </a:r>
            <a:r>
              <a:rPr lang="he-IL" dirty="0" err="1"/>
              <a:t>הכל</a:t>
            </a:r>
            <a:r>
              <a:rPr lang="he-IL" dirty="0"/>
              <a:t>.</a:t>
            </a:r>
          </a:p>
          <a:p>
            <a:r>
              <a:rPr lang="he-IL" b="1" u="sng" dirty="0"/>
              <a:t>ממשק עם שורת פקודה</a:t>
            </a:r>
            <a:r>
              <a:rPr lang="he-IL" dirty="0"/>
              <a:t>: אני חושב שכסטודנטים להנדסת תוכנה ומערכות מידע, אנחנו יודעים ורגילים לעבור עם טרמינל ושורת פקודה, בין אם זה </a:t>
            </a:r>
            <a:r>
              <a:rPr lang="en-US" dirty="0"/>
              <a:t>GIT</a:t>
            </a:r>
            <a:r>
              <a:rPr lang="he-IL" dirty="0"/>
              <a:t> או </a:t>
            </a:r>
            <a:r>
              <a:rPr lang="en-US" dirty="0"/>
              <a:t>VS CODE</a:t>
            </a:r>
            <a:r>
              <a:rPr lang="he-IL" dirty="0"/>
              <a:t> או לינוקס.</a:t>
            </a:r>
          </a:p>
          <a:p>
            <a:r>
              <a:rPr lang="he-IL" dirty="0"/>
              <a:t>אז גם כאן, לא צריך לגעת בעכבר יותר מידי ולחפש את הקובץ הורדה ולהתחיל </a:t>
            </a:r>
            <a:r>
              <a:rPr lang="en-US" dirty="0"/>
              <a:t>next</a:t>
            </a:r>
            <a:r>
              <a:rPr lang="he-IL" dirty="0"/>
              <a:t>... אז כותבים שורת פקודה אחת, וזה קורה.</a:t>
            </a:r>
          </a:p>
          <a:p>
            <a:r>
              <a:rPr lang="he-IL" b="1" u="sng" dirty="0"/>
              <a:t>ניהול תלויות</a:t>
            </a:r>
            <a:r>
              <a:rPr lang="he-IL" dirty="0"/>
              <a:t>:  אני בטוח שחלקנו מכירים את זה שהתקנו משהו אבל עדיין חסר לנו משהו, נניח סתם לדוגמה </a:t>
            </a:r>
            <a:r>
              <a:rPr lang="en-US" dirty="0"/>
              <a:t>Java </a:t>
            </a:r>
            <a:r>
              <a:rPr lang="he-IL" dirty="0"/>
              <a:t> כדי התוכנה תרוץ לנו.. אז </a:t>
            </a:r>
            <a:r>
              <a:rPr lang="he-IL" dirty="0" err="1"/>
              <a:t>צ'וקולטי</a:t>
            </a:r>
            <a:r>
              <a:rPr lang="he-IL" dirty="0"/>
              <a:t> מספיק חכם כדי לדעת שאם תוכנה צריכה תלות במשהו אז הוא יוריד את שתיהן אוטומטית. זה חוסך שגיאות בהתקנה.</a:t>
            </a:r>
          </a:p>
        </p:txBody>
      </p:sp>
      <p:sp>
        <p:nvSpPr>
          <p:cNvPr id="4" name="מציין מיקום של מספר שקופית 3">
            <a:extLst>
              <a:ext uri="{FF2B5EF4-FFF2-40B4-BE49-F238E27FC236}">
                <a16:creationId xmlns:a16="http://schemas.microsoft.com/office/drawing/2014/main" id="{4F427792-A624-8F36-BEE3-E8C47C1DFD54}"/>
              </a:ext>
            </a:extLst>
          </p:cNvPr>
          <p:cNvSpPr>
            <a:spLocks noGrp="1"/>
          </p:cNvSpPr>
          <p:nvPr>
            <p:ph type="sldNum" sz="quarter" idx="5"/>
          </p:nvPr>
        </p:nvSpPr>
        <p:spPr/>
        <p:txBody>
          <a:bodyPr/>
          <a:lstStyle/>
          <a:p>
            <a:fld id="{83C3C476-133C-4ADB-A596-7D34F4EC1F94}" type="slidenum">
              <a:rPr lang="he-IL" smtClean="0"/>
              <a:t>2</a:t>
            </a:fld>
            <a:endParaRPr lang="he-IL"/>
          </a:p>
        </p:txBody>
      </p:sp>
    </p:spTree>
    <p:extLst>
      <p:ext uri="{BB962C8B-B14F-4D97-AF65-F5344CB8AC3E}">
        <p14:creationId xmlns:p14="http://schemas.microsoft.com/office/powerpoint/2010/main" val="3606506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נתחיל בהקדמה קטנה, מה אנחנו רואים פה?</a:t>
            </a:r>
            <a:br>
              <a:rPr lang="en-US" dirty="0"/>
            </a:br>
            <a:r>
              <a:rPr lang="he-IL" dirty="0"/>
              <a:t>- כניסה לגוגל - חיפוש של התוכנה שאנחנו רוצים - לחפש מקור מהימן כדי להוריד ממנו קובץ התקנה ו*לקוות* שלא הורדנו בטעות וירוס או משהו שהוא לא התוכנה שרצינו, לאחר מכן לוחצים </a:t>
            </a:r>
            <a:r>
              <a:rPr lang="en-US" dirty="0"/>
              <a:t> next </a:t>
            </a:r>
            <a:r>
              <a:rPr lang="en-US" dirty="0" err="1"/>
              <a:t>next</a:t>
            </a:r>
            <a:r>
              <a:rPr lang="en-US" dirty="0"/>
              <a:t> </a:t>
            </a:r>
            <a:r>
              <a:rPr lang="en-US" dirty="0" err="1"/>
              <a:t>next</a:t>
            </a:r>
            <a:r>
              <a:rPr lang="en-US" dirty="0"/>
              <a:t> </a:t>
            </a:r>
            <a:r>
              <a:rPr lang="he-IL" dirty="0"/>
              <a:t>ובסוף </a:t>
            </a:r>
            <a:r>
              <a:rPr lang="en-US" dirty="0"/>
              <a:t>finish</a:t>
            </a:r>
            <a:r>
              <a:rPr lang="he-IL" dirty="0"/>
              <a:t>, ואם ארצה לעדכן את היישום לגרסה החדשה? עוד תהליך ארוך..</a:t>
            </a:r>
            <a:br>
              <a:rPr lang="en-US" dirty="0"/>
            </a:br>
            <a:r>
              <a:rPr lang="he-IL" dirty="0" err="1"/>
              <a:t>וכללללל</a:t>
            </a:r>
            <a:r>
              <a:rPr lang="he-IL" dirty="0"/>
              <a:t> זה בשביל אפליקציה אחת כן? אז נניח ואני רוצה להוריד עוד יישום, אז אותו תהליך מייגע, במיוחד כשיש הוראות התקנה מסובכות לעיתים.</a:t>
            </a:r>
          </a:p>
          <a:p>
            <a:r>
              <a:rPr lang="he-IL" dirty="0"/>
              <a:t>מדובר בתהליך איטי, ומייגע ומעצבן. אנחנו בעולם של </a:t>
            </a:r>
            <a:r>
              <a:rPr lang="he-IL" dirty="0" err="1"/>
              <a:t>אוטומציות</a:t>
            </a:r>
            <a:r>
              <a:rPr lang="he-IL" dirty="0"/>
              <a:t> ובעצם כאן נכנס לתמונה ה </a:t>
            </a:r>
            <a:r>
              <a:rPr lang="en-US" dirty="0"/>
              <a:t>chocolatey</a:t>
            </a:r>
            <a:r>
              <a:rPr lang="he-IL" dirty="0"/>
              <a:t>.</a:t>
            </a:r>
          </a:p>
          <a:p>
            <a:endParaRPr lang="he-IL" dirty="0"/>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3</a:t>
            </a:fld>
            <a:endParaRPr lang="he-IL"/>
          </a:p>
        </p:txBody>
      </p:sp>
    </p:spTree>
    <p:extLst>
      <p:ext uri="{BB962C8B-B14F-4D97-AF65-F5344CB8AC3E}">
        <p14:creationId xmlns:p14="http://schemas.microsoft.com/office/powerpoint/2010/main" val="2026984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u="none" dirty="0"/>
              <a:t>מנהל חבילות עבור </a:t>
            </a:r>
            <a:r>
              <a:rPr lang="en-US" b="1" u="none" dirty="0"/>
              <a:t>windows</a:t>
            </a:r>
            <a:r>
              <a:rPr lang="he-IL" b="1" u="none" dirty="0"/>
              <a:t>, ובמילים פשוטות</a:t>
            </a:r>
            <a:r>
              <a:rPr lang="en-US" b="1" u="none" dirty="0"/>
              <a:t> - </a:t>
            </a:r>
            <a:r>
              <a:rPr lang="he-IL" b="1" u="none" dirty="0"/>
              <a:t>אוטומציה לחיפוש, התקנה</a:t>
            </a:r>
            <a:r>
              <a:rPr lang="en-US" b="1" u="none" dirty="0"/>
              <a:t> </a:t>
            </a:r>
            <a:r>
              <a:rPr lang="he-IL" b="1" u="none" dirty="0"/>
              <a:t> והסרה, ועדכון.</a:t>
            </a:r>
            <a:br>
              <a:rPr lang="en-US" b="1" u="sng" dirty="0"/>
            </a:br>
            <a:r>
              <a:rPr lang="he-IL" b="1" u="sng" dirty="0"/>
              <a:t>ריכוז התוכנות</a:t>
            </a:r>
            <a:r>
              <a:rPr lang="he-IL" dirty="0"/>
              <a:t>: זוכרים את עניין החיפוש ברשת בכל אתר אחר כדי למצוא את התוכנה הרצויה? אז באתר של </a:t>
            </a:r>
            <a:r>
              <a:rPr lang="en-US" dirty="0"/>
              <a:t>chocolatey</a:t>
            </a:r>
            <a:r>
              <a:rPr lang="he-IL" dirty="0"/>
              <a:t> </a:t>
            </a:r>
            <a:r>
              <a:rPr lang="he-IL" dirty="0" err="1"/>
              <a:t>הכל</a:t>
            </a:r>
            <a:r>
              <a:rPr lang="he-IL" dirty="0"/>
              <a:t> נמצא באתר אחד שמרכז את </a:t>
            </a:r>
            <a:r>
              <a:rPr lang="he-IL" dirty="0" err="1"/>
              <a:t>הכל</a:t>
            </a:r>
            <a:r>
              <a:rPr lang="he-IL" dirty="0"/>
              <a:t>.</a:t>
            </a:r>
          </a:p>
          <a:p>
            <a:r>
              <a:rPr lang="he-IL" b="1" u="sng" dirty="0"/>
              <a:t>ממשק עם שורת פקודה</a:t>
            </a:r>
            <a:r>
              <a:rPr lang="he-IL" dirty="0"/>
              <a:t>: אני חושב שכסטודנטים להנדסת תוכנה ומערכות מידע, אנחנו יודעים ורגילים לעבור עם טרמינל ושורת פקודה, בין אם זה </a:t>
            </a:r>
            <a:r>
              <a:rPr lang="en-US" dirty="0"/>
              <a:t>GIT</a:t>
            </a:r>
            <a:r>
              <a:rPr lang="he-IL" dirty="0"/>
              <a:t> או </a:t>
            </a:r>
            <a:r>
              <a:rPr lang="en-US" dirty="0"/>
              <a:t>VS CODE</a:t>
            </a:r>
            <a:r>
              <a:rPr lang="he-IL" dirty="0"/>
              <a:t> או לינוקס.</a:t>
            </a:r>
          </a:p>
          <a:p>
            <a:r>
              <a:rPr lang="he-IL" dirty="0"/>
              <a:t>אז גם כאן, לא צריך לגעת בעכבר יותר מידי ולחפש את הקובץ הורדה ולהתחיל </a:t>
            </a:r>
            <a:r>
              <a:rPr lang="en-US" dirty="0"/>
              <a:t>next</a:t>
            </a:r>
            <a:r>
              <a:rPr lang="he-IL" dirty="0"/>
              <a:t>... אז כותבים שורת פקודה אחת, וזה קורה.</a:t>
            </a:r>
          </a:p>
          <a:p>
            <a:r>
              <a:rPr lang="he-IL" b="1" u="sng" dirty="0"/>
              <a:t>ניהול תלויות</a:t>
            </a:r>
            <a:r>
              <a:rPr lang="he-IL" dirty="0"/>
              <a:t>:  אני בטוח שחלקנו מכירים את זה שהתקנו משהו אבל עדיין חסר לנו משהו, נניח סתם לדוגמה </a:t>
            </a:r>
            <a:r>
              <a:rPr lang="en-US" dirty="0"/>
              <a:t>Java </a:t>
            </a:r>
            <a:r>
              <a:rPr lang="he-IL" dirty="0"/>
              <a:t> כדי התוכנה תרוץ לנו.. אז </a:t>
            </a:r>
            <a:r>
              <a:rPr lang="he-IL" dirty="0" err="1"/>
              <a:t>צ'וקולטי</a:t>
            </a:r>
            <a:r>
              <a:rPr lang="he-IL" dirty="0"/>
              <a:t> מספיק חכם כדי לדעת שאם תוכנה צריכה תלות במשהו אז הוא יוריד את שתיהן אוטומטית. זה חוסך שגיאות בהתקנה.</a:t>
            </a:r>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4</a:t>
            </a:fld>
            <a:endParaRPr lang="he-IL"/>
          </a:p>
        </p:txBody>
      </p:sp>
    </p:spTree>
    <p:extLst>
      <p:ext uri="{BB962C8B-B14F-4D97-AF65-F5344CB8AC3E}">
        <p14:creationId xmlns:p14="http://schemas.microsoft.com/office/powerpoint/2010/main" val="630999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B533A-FABB-D49B-A218-A45FADE3820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6AFB149-1893-7C05-A649-EB3772F13C5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1A6A1762-CEB7-7024-FC57-56ECE66C2B10}"/>
              </a:ext>
            </a:extLst>
          </p:cNvPr>
          <p:cNvSpPr>
            <a:spLocks noGrp="1"/>
          </p:cNvSpPr>
          <p:nvPr>
            <p:ph type="body" idx="1"/>
          </p:nvPr>
        </p:nvSpPr>
        <p:spPr/>
        <p:txBody>
          <a:bodyPr/>
          <a:lstStyle/>
          <a:p>
            <a:r>
              <a:rPr lang="he-IL" b="1" u="none" dirty="0"/>
              <a:t>מנהל חבילות עבור </a:t>
            </a:r>
            <a:r>
              <a:rPr lang="en-US" b="1" u="none" dirty="0"/>
              <a:t>windows</a:t>
            </a:r>
            <a:r>
              <a:rPr lang="he-IL" b="1" u="none" dirty="0"/>
              <a:t>, ובמילים פשוטות</a:t>
            </a:r>
            <a:r>
              <a:rPr lang="en-US" b="1" u="none" dirty="0"/>
              <a:t> - </a:t>
            </a:r>
            <a:r>
              <a:rPr lang="he-IL" b="1" u="none" dirty="0"/>
              <a:t>אוטומציה לחיפוש, התקנה</a:t>
            </a:r>
            <a:r>
              <a:rPr lang="en-US" b="1" u="none" dirty="0"/>
              <a:t> </a:t>
            </a:r>
            <a:r>
              <a:rPr lang="he-IL" b="1" u="none" dirty="0"/>
              <a:t> והסרה, ועדכון.</a:t>
            </a:r>
            <a:br>
              <a:rPr lang="en-US" b="1" u="sng" dirty="0"/>
            </a:br>
            <a:r>
              <a:rPr lang="he-IL" b="1" u="sng" dirty="0"/>
              <a:t>ריכוז התוכנות</a:t>
            </a:r>
            <a:r>
              <a:rPr lang="he-IL" dirty="0"/>
              <a:t>: זוכרים את עניין החיפוש ברשת בכל אתר אחר כדי למצוא את התוכנה הרצויה? אז באתר של </a:t>
            </a:r>
            <a:r>
              <a:rPr lang="en-US" dirty="0"/>
              <a:t>chocolatey</a:t>
            </a:r>
            <a:r>
              <a:rPr lang="he-IL" dirty="0"/>
              <a:t> </a:t>
            </a:r>
            <a:r>
              <a:rPr lang="he-IL" dirty="0" err="1"/>
              <a:t>הכל</a:t>
            </a:r>
            <a:r>
              <a:rPr lang="he-IL" dirty="0"/>
              <a:t> נמצא באתר אחד שמרכז את </a:t>
            </a:r>
            <a:r>
              <a:rPr lang="he-IL" dirty="0" err="1"/>
              <a:t>הכל</a:t>
            </a:r>
            <a:r>
              <a:rPr lang="he-IL" dirty="0"/>
              <a:t>.</a:t>
            </a:r>
          </a:p>
          <a:p>
            <a:r>
              <a:rPr lang="he-IL" b="1" u="sng" dirty="0"/>
              <a:t>ממשק עם שורת פקודה</a:t>
            </a:r>
            <a:r>
              <a:rPr lang="he-IL" dirty="0"/>
              <a:t>: אני חושב שכסטודנטים להנדסת תוכנה ומערכות מידע, אנחנו יודעים ורגילים לעבור עם טרמינל ושורת פקודה, בין אם זה </a:t>
            </a:r>
            <a:r>
              <a:rPr lang="en-US" dirty="0"/>
              <a:t>GIT</a:t>
            </a:r>
            <a:r>
              <a:rPr lang="he-IL" dirty="0"/>
              <a:t> או </a:t>
            </a:r>
            <a:r>
              <a:rPr lang="en-US" dirty="0"/>
              <a:t>VS CODE</a:t>
            </a:r>
            <a:r>
              <a:rPr lang="he-IL" dirty="0"/>
              <a:t> או לינוקס.</a:t>
            </a:r>
          </a:p>
          <a:p>
            <a:r>
              <a:rPr lang="he-IL" dirty="0"/>
              <a:t>אז גם כאן, לא צריך לגעת בעכבר יותר מידי ולחפש את הקובץ הורדה ולהתחיל </a:t>
            </a:r>
            <a:r>
              <a:rPr lang="en-US" dirty="0"/>
              <a:t>next</a:t>
            </a:r>
            <a:r>
              <a:rPr lang="he-IL" dirty="0"/>
              <a:t>... אז כותבים שורת פקודה אחת, וזה קורה.</a:t>
            </a:r>
          </a:p>
          <a:p>
            <a:r>
              <a:rPr lang="he-IL" b="1" u="sng" dirty="0"/>
              <a:t>ניהול תלויות</a:t>
            </a:r>
            <a:r>
              <a:rPr lang="he-IL" dirty="0"/>
              <a:t>:  אני בטוח שחלקנו מכירים את זה שהתקנו משהו אבל עדיין חסר לנו משהו, נניח סתם לדוגמה </a:t>
            </a:r>
            <a:r>
              <a:rPr lang="en-US" dirty="0"/>
              <a:t>Java </a:t>
            </a:r>
            <a:r>
              <a:rPr lang="he-IL" dirty="0"/>
              <a:t> כדי התוכנה תרוץ לנו.. אז </a:t>
            </a:r>
            <a:r>
              <a:rPr lang="he-IL" dirty="0" err="1"/>
              <a:t>צ'וקולטי</a:t>
            </a:r>
            <a:r>
              <a:rPr lang="he-IL" dirty="0"/>
              <a:t> מספיק חכם כדי לדעת שאם תוכנה צריכה תלות במשהו אז הוא יוריד את שתיהן אוטומטית. זה חוסך שגיאות בהתקנה.</a:t>
            </a:r>
          </a:p>
        </p:txBody>
      </p:sp>
      <p:sp>
        <p:nvSpPr>
          <p:cNvPr id="4" name="מציין מיקום של מספר שקופית 3">
            <a:extLst>
              <a:ext uri="{FF2B5EF4-FFF2-40B4-BE49-F238E27FC236}">
                <a16:creationId xmlns:a16="http://schemas.microsoft.com/office/drawing/2014/main" id="{B4943D0F-7A2F-FE16-75B9-B083E7AE95A6}"/>
              </a:ext>
            </a:extLst>
          </p:cNvPr>
          <p:cNvSpPr>
            <a:spLocks noGrp="1"/>
          </p:cNvSpPr>
          <p:nvPr>
            <p:ph type="sldNum" sz="quarter" idx="5"/>
          </p:nvPr>
        </p:nvSpPr>
        <p:spPr/>
        <p:txBody>
          <a:bodyPr/>
          <a:lstStyle/>
          <a:p>
            <a:fld id="{83C3C476-133C-4ADB-A596-7D34F4EC1F94}" type="slidenum">
              <a:rPr lang="he-IL" smtClean="0"/>
              <a:t>5</a:t>
            </a:fld>
            <a:endParaRPr lang="he-IL"/>
          </a:p>
        </p:txBody>
      </p:sp>
    </p:spTree>
    <p:extLst>
      <p:ext uri="{BB962C8B-B14F-4D97-AF65-F5344CB8AC3E}">
        <p14:creationId xmlns:p14="http://schemas.microsoft.com/office/powerpoint/2010/main" val="410539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אחרי שהבנו מה זה הכלי, נעבור ללמה צריך אותו ועל </a:t>
            </a:r>
            <a:r>
              <a:rPr lang="he-IL" dirty="0" err="1"/>
              <a:t>היתרנות</a:t>
            </a:r>
            <a:r>
              <a:rPr lang="he-IL" dirty="0"/>
              <a:t> שלו...</a:t>
            </a:r>
            <a:br>
              <a:rPr lang="en-US" dirty="0"/>
            </a:br>
            <a:r>
              <a:rPr lang="he-IL" dirty="0"/>
              <a:t>קודם כל, </a:t>
            </a:r>
            <a:r>
              <a:rPr lang="he-IL" b="1" dirty="0"/>
              <a:t>חיסכון בזמן</a:t>
            </a:r>
            <a:r>
              <a:rPr lang="he-IL" dirty="0"/>
              <a:t>. דיברתי על זה בשקופית קודמת על עניין השימוש ב</a:t>
            </a:r>
            <a:r>
              <a:rPr lang="en-US" dirty="0"/>
              <a:t>CLI</a:t>
            </a:r>
            <a:r>
              <a:rPr lang="he-IL" dirty="0"/>
              <a:t> ובהתחלה כשהצגתי את הבעיה. אז כל הקורה קורה ב</a:t>
            </a:r>
            <a:r>
              <a:rPr lang="he-IL" b="1" dirty="0"/>
              <a:t>אוטומציה</a:t>
            </a:r>
            <a:r>
              <a:rPr lang="he-IL" b="0" dirty="0"/>
              <a:t> אחרי שימוש בשורת קוד.</a:t>
            </a:r>
            <a:endParaRPr lang="he-IL" dirty="0"/>
          </a:p>
          <a:p>
            <a:r>
              <a:rPr lang="he-IL" dirty="0"/>
              <a:t>שנית, </a:t>
            </a:r>
            <a:r>
              <a:rPr lang="he-IL" b="1" dirty="0"/>
              <a:t>עדכונים-</a:t>
            </a:r>
            <a:r>
              <a:rPr lang="he-IL" dirty="0"/>
              <a:t> רובנו שוכחים לעדכן תוכנות, מה שיכול ליצור חורי אבטחה, או אפילו שדרוג של היצרן לקבלת כלים נוספים חדשים, אז גם כאן שורת פקודה אחת תעשה את העבודה. וזה מה שמוביל אותי לעניין </a:t>
            </a:r>
            <a:r>
              <a:rPr lang="he-IL" b="1" dirty="0"/>
              <a:t>האחידות </a:t>
            </a:r>
            <a:r>
              <a:rPr lang="he-IL" b="0" dirty="0"/>
              <a:t>- כל הצוות יעבוד על אותה הגרסה בכל המחשבים שלהם.</a:t>
            </a:r>
          </a:p>
          <a:p>
            <a:r>
              <a:rPr lang="he-IL" dirty="0"/>
              <a:t>והכי חשוב....! </a:t>
            </a:r>
            <a:r>
              <a:rPr lang="he-IL" b="1" dirty="0"/>
              <a:t>אבטחה-</a:t>
            </a:r>
            <a:r>
              <a:rPr lang="he-IL" dirty="0"/>
              <a:t> אנחנו לא צריכים לנחש אם האתר שהגענו אליו הוא האתר הרשמי. הקהילה והסורקים האוטומטיים של </a:t>
            </a:r>
            <a:r>
              <a:rPr lang="he-IL" dirty="0" err="1"/>
              <a:t>צ'וקולטי</a:t>
            </a:r>
            <a:r>
              <a:rPr lang="he-IL" dirty="0"/>
              <a:t> כבר עשו את הבדיקה בשבילנו, ולהם יש קהילה שלמה וזה כבר עמית הולכת לדבר איתכם על זה בהמשך.</a:t>
            </a:r>
          </a:p>
          <a:p>
            <a:endParaRPr lang="he-IL" dirty="0"/>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6</a:t>
            </a:fld>
            <a:endParaRPr lang="he-IL"/>
          </a:p>
        </p:txBody>
      </p:sp>
    </p:spTree>
    <p:extLst>
      <p:ext uri="{BB962C8B-B14F-4D97-AF65-F5344CB8AC3E}">
        <p14:creationId xmlns:p14="http://schemas.microsoft.com/office/powerpoint/2010/main" val="1757730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DF089-AA8C-9F4A-72E3-D176F9F21AF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78922E25-E939-307F-EE79-5D34A944B5E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11D72A1-53A5-1B05-C152-7470B9AB8365}"/>
              </a:ext>
            </a:extLst>
          </p:cNvPr>
          <p:cNvSpPr>
            <a:spLocks noGrp="1"/>
          </p:cNvSpPr>
          <p:nvPr>
            <p:ph type="body" idx="1"/>
          </p:nvPr>
        </p:nvSpPr>
        <p:spPr/>
        <p:txBody>
          <a:bodyPr/>
          <a:lstStyle/>
          <a:p>
            <a:r>
              <a:rPr lang="he-IL" dirty="0"/>
              <a:t>חשוב שנכיר גם את החסרונות של הכלי..</a:t>
            </a:r>
            <a:br>
              <a:rPr lang="en-US" dirty="0"/>
            </a:br>
            <a:r>
              <a:rPr lang="he-IL" b="1" dirty="0"/>
              <a:t>תלות באינטרנט:</a:t>
            </a:r>
            <a:r>
              <a:rPr lang="he-IL" dirty="0"/>
              <a:t> בניגוד להתקנה מקובץ שיש לנו על הדיסק-און-קי שמישהו מעביר לנו, כאן אנחנו חייבים חיבור פעיל כדי למשוך את החבילות מהענן. במצב אופליין הכלי לא יעבוד.</a:t>
            </a:r>
          </a:p>
          <a:p>
            <a:r>
              <a:rPr lang="he-IL" b="1" dirty="0"/>
              <a:t>עקומת למידה:</a:t>
            </a:r>
            <a:r>
              <a:rPr lang="he-IL" dirty="0"/>
              <a:t> עבורנו כסטודנטים זה פשוט, אבל עבור המשתמש הממוצע, המעבר מ'לחיצה על אייקון' לכתיבת פקודות בטרמינל יכול להיות מרתיע.</a:t>
            </a:r>
          </a:p>
          <a:p>
            <a:r>
              <a:rPr lang="he-IL" b="1" dirty="0"/>
              <a:t>תחזוקת קהילה:</a:t>
            </a:r>
            <a:r>
              <a:rPr lang="he-IL" dirty="0"/>
              <a:t> מכיוון שהמאגר הוא קהילתי, לוקח לפעמים יום-יומיים לשחרר גרסה חדשה לכולם שאפשר יהיה להוריד אותה..</a:t>
            </a:r>
          </a:p>
          <a:p>
            <a:r>
              <a:rPr lang="he-IL" b="1" dirty="0"/>
              <a:t>אבטחה וביטחון:</a:t>
            </a:r>
            <a:r>
              <a:rPr lang="he-IL" dirty="0"/>
              <a:t> בארגונים גדולים מאוד לפעמים חוששים להריץ סקריפטים שנכתבו על ידי הקהילה, ולכן הם מקימים מאגרים פרטיים - מה שמוביל לנקודה האחרונה...</a:t>
            </a:r>
          </a:p>
          <a:p>
            <a:r>
              <a:rPr lang="he-IL" b="1" dirty="0"/>
              <a:t>גרסה בתשלום:</a:t>
            </a:r>
            <a:r>
              <a:rPr lang="he-IL" dirty="0"/>
              <a:t> הכלים המתקדמים באמת, כמו ניהול חבילות בתוך רשת ארגונית סגורה, מיועדים לעסקים שחוששים ממש לאבטחת מידע עולים כסף.</a:t>
            </a:r>
            <a:br>
              <a:rPr lang="en-US" dirty="0"/>
            </a:br>
            <a:r>
              <a:rPr lang="he-IL" dirty="0"/>
              <a:t>ומכאן עמית תמשיך אותי</a:t>
            </a:r>
          </a:p>
          <a:p>
            <a:endParaRPr lang="he-IL" dirty="0"/>
          </a:p>
        </p:txBody>
      </p:sp>
      <p:sp>
        <p:nvSpPr>
          <p:cNvPr id="4" name="מציין מיקום של מספר שקופית 3">
            <a:extLst>
              <a:ext uri="{FF2B5EF4-FFF2-40B4-BE49-F238E27FC236}">
                <a16:creationId xmlns:a16="http://schemas.microsoft.com/office/drawing/2014/main" id="{9073F784-62C8-C9C5-6F44-93661BB0C87B}"/>
              </a:ext>
            </a:extLst>
          </p:cNvPr>
          <p:cNvSpPr>
            <a:spLocks noGrp="1"/>
          </p:cNvSpPr>
          <p:nvPr>
            <p:ph type="sldNum" sz="quarter" idx="5"/>
          </p:nvPr>
        </p:nvSpPr>
        <p:spPr/>
        <p:txBody>
          <a:bodyPr/>
          <a:lstStyle/>
          <a:p>
            <a:fld id="{83C3C476-133C-4ADB-A596-7D34F4EC1F94}" type="slidenum">
              <a:rPr lang="he-IL" smtClean="0"/>
              <a:t>7</a:t>
            </a:fld>
            <a:endParaRPr lang="he-IL"/>
          </a:p>
        </p:txBody>
      </p:sp>
    </p:spTree>
    <p:extLst>
      <p:ext uri="{BB962C8B-B14F-4D97-AF65-F5344CB8AC3E}">
        <p14:creationId xmlns:p14="http://schemas.microsoft.com/office/powerpoint/2010/main" val="3132932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ללחוץ על </a:t>
            </a:r>
            <a:r>
              <a:rPr lang="he-IL" dirty="0" err="1"/>
              <a:t>החבילת</a:t>
            </a:r>
            <a:r>
              <a:rPr lang="he-IL" dirty="0"/>
              <a:t> שוקולד כדי להגיע לאתר.</a:t>
            </a:r>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9</a:t>
            </a:fld>
            <a:endParaRPr lang="he-IL"/>
          </a:p>
        </p:txBody>
      </p:sp>
    </p:spTree>
    <p:extLst>
      <p:ext uri="{BB962C8B-B14F-4D97-AF65-F5344CB8AC3E}">
        <p14:creationId xmlns:p14="http://schemas.microsoft.com/office/powerpoint/2010/main" val="989943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נועד להיות מוסתר, אמור לעזור לי לזכור מה כל דבר אומר בעמוד.</a:t>
            </a:r>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10</a:t>
            </a:fld>
            <a:endParaRPr lang="he-IL"/>
          </a:p>
        </p:txBody>
      </p:sp>
    </p:spTree>
    <p:extLst>
      <p:ext uri="{BB962C8B-B14F-4D97-AF65-F5344CB8AC3E}">
        <p14:creationId xmlns:p14="http://schemas.microsoft.com/office/powerpoint/2010/main" val="3738463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לבצע פה גם הדגמה בלייב של התקנה של תוכנה דרך הממשק הגרפי.</a:t>
            </a:r>
          </a:p>
          <a:p>
            <a:r>
              <a:rPr lang="he-IL" dirty="0"/>
              <a:t>להסביר מה ההבדל בין </a:t>
            </a:r>
            <a:r>
              <a:rPr lang="en-US" dirty="0"/>
              <a:t>install</a:t>
            </a:r>
            <a:r>
              <a:rPr lang="he-IL" dirty="0"/>
              <a:t> רגיל ל</a:t>
            </a:r>
            <a:r>
              <a:rPr lang="en-US" dirty="0"/>
              <a:t>install advanced</a:t>
            </a:r>
            <a:endParaRPr lang="he-IL" dirty="0"/>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11</a:t>
            </a:fld>
            <a:endParaRPr lang="he-IL"/>
          </a:p>
        </p:txBody>
      </p:sp>
    </p:spTree>
    <p:extLst>
      <p:ext uri="{BB962C8B-B14F-4D97-AF65-F5344CB8AC3E}">
        <p14:creationId xmlns:p14="http://schemas.microsoft.com/office/powerpoint/2010/main" val="407754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איך מורידים את הגרסה הגרפית בקלות</a:t>
            </a:r>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12</a:t>
            </a:fld>
            <a:endParaRPr lang="he-IL"/>
          </a:p>
        </p:txBody>
      </p:sp>
    </p:spTree>
    <p:extLst>
      <p:ext uri="{BB962C8B-B14F-4D97-AF65-F5344CB8AC3E}">
        <p14:creationId xmlns:p14="http://schemas.microsoft.com/office/powerpoint/2010/main" val="4256925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AA50-8A33-6F54-B90B-8D310DBF54F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1E1A3A0-6F72-BB53-0DDE-03D74CFF864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44A96CCF-629A-C056-3412-B4B2122176BA}"/>
              </a:ext>
            </a:extLst>
          </p:cNvPr>
          <p:cNvSpPr>
            <a:spLocks noGrp="1"/>
          </p:cNvSpPr>
          <p:nvPr>
            <p:ph type="body" idx="1"/>
          </p:nvPr>
        </p:nvSpPr>
        <p:spPr/>
        <p:txBody>
          <a:bodyPr/>
          <a:lstStyle/>
          <a:p>
            <a:r>
              <a:rPr lang="he-IL" dirty="0" err="1"/>
              <a:t>דאשבורד</a:t>
            </a:r>
            <a:r>
              <a:rPr lang="he-IL" dirty="0"/>
              <a:t> מרכזי המאפשר לנהל את התוכנות בכל הארגון. הוא נותן שליטה מלאה לראות מה מותקן על כל מחשב, ומאפשר להריץ התקנות ועדכונים באופן אוטומטי – והכל ממקום אחד. ה-</a:t>
            </a:r>
            <a:r>
              <a:rPr lang="en-US" dirty="0"/>
              <a:t>CCM </a:t>
            </a:r>
            <a:r>
              <a:rPr lang="he-IL" dirty="0"/>
              <a:t> מותקן על </a:t>
            </a:r>
            <a:r>
              <a:rPr lang="he-IL" b="1" dirty="0"/>
              <a:t>שרת</a:t>
            </a:r>
            <a:r>
              <a:rPr lang="he-IL" dirty="0"/>
              <a:t> ארגוני.</a:t>
            </a:r>
          </a:p>
        </p:txBody>
      </p:sp>
      <p:sp>
        <p:nvSpPr>
          <p:cNvPr id="4" name="מציין מיקום של מספר שקופית 3">
            <a:extLst>
              <a:ext uri="{FF2B5EF4-FFF2-40B4-BE49-F238E27FC236}">
                <a16:creationId xmlns:a16="http://schemas.microsoft.com/office/drawing/2014/main" id="{7A2E25B3-C688-862C-38CC-D34DC74841AF}"/>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3C3C476-133C-4ADB-A596-7D34F4EC1F94}"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13</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482620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מיועד בעיקר לארגונים.</a:t>
            </a:r>
            <a:endParaRPr lang="en-US" dirty="0"/>
          </a:p>
          <a:p>
            <a:r>
              <a:rPr lang="en-US" dirty="0"/>
              <a:t>Deployments</a:t>
            </a:r>
            <a:r>
              <a:rPr lang="he-IL" dirty="0"/>
              <a:t>- התקנה / עדכון / הסרה של תוכנה </a:t>
            </a:r>
            <a:r>
              <a:rPr lang="he-IL" b="1" dirty="0"/>
              <a:t>מהשרת המרכזי</a:t>
            </a:r>
            <a:r>
              <a:rPr lang="he-IL" dirty="0"/>
              <a:t> לעשרות או מאות מחשבים — בבת אחת.</a:t>
            </a:r>
            <a:br>
              <a:rPr lang="en-US" dirty="0"/>
            </a:br>
            <a:r>
              <a:rPr lang="en-US" dirty="0"/>
              <a:t>Reporting</a:t>
            </a:r>
            <a:r>
              <a:rPr lang="he-IL" dirty="0"/>
              <a:t>- אפשר לראות </a:t>
            </a:r>
            <a:r>
              <a:rPr lang="he-IL" b="1" dirty="0"/>
              <a:t>מה קרה באמת</a:t>
            </a:r>
            <a:r>
              <a:rPr lang="he-IL" dirty="0"/>
              <a:t> אחרי ששלחת </a:t>
            </a:r>
            <a:r>
              <a:rPr lang="en-US" dirty="0"/>
              <a:t>Deployment.</a:t>
            </a:r>
            <a:endParaRPr lang="he-IL" dirty="0"/>
          </a:p>
          <a:p>
            <a:r>
              <a:rPr lang="en-US" dirty="0"/>
              <a:t>Scheduled Deployments</a:t>
            </a:r>
            <a:r>
              <a:rPr lang="he-IL" dirty="0"/>
              <a:t>- לא חייבים להריץ התקנה עכשיו — אפשר </a:t>
            </a:r>
            <a:r>
              <a:rPr lang="he-IL" b="1" dirty="0"/>
              <a:t>לקבוע זמן עתידי</a:t>
            </a:r>
            <a:r>
              <a:rPr lang="he-IL" dirty="0"/>
              <a:t>.</a:t>
            </a:r>
          </a:p>
          <a:p>
            <a:r>
              <a:rPr lang="en-US" dirty="0"/>
              <a:t>Maintenance Windows</a:t>
            </a:r>
            <a:r>
              <a:rPr lang="he-IL" dirty="0"/>
              <a:t>- מגדירים </a:t>
            </a:r>
            <a:r>
              <a:rPr lang="he-IL" b="1" dirty="0"/>
              <a:t>מתי מותר ומתי אסור</a:t>
            </a:r>
            <a:r>
              <a:rPr lang="he-IL" dirty="0"/>
              <a:t> להריץ פריסות על מחשבים.</a:t>
            </a:r>
          </a:p>
          <a:p>
            <a:r>
              <a:rPr lang="en-US" dirty="0"/>
              <a:t>Semi-Connected Environments</a:t>
            </a:r>
            <a:r>
              <a:rPr lang="he-IL" dirty="0"/>
              <a:t>- </a:t>
            </a:r>
            <a:r>
              <a:rPr lang="en-US" dirty="0"/>
              <a:t>Chocolatey </a:t>
            </a:r>
            <a:r>
              <a:rPr lang="he-IL" dirty="0"/>
              <a:t>עובד גם </a:t>
            </a:r>
            <a:r>
              <a:rPr lang="he-IL" dirty="0" err="1"/>
              <a:t>כש</a:t>
            </a:r>
            <a:r>
              <a:rPr lang="he-IL" dirty="0"/>
              <a:t>:</a:t>
            </a:r>
          </a:p>
          <a:p>
            <a:r>
              <a:rPr lang="he-IL" dirty="0"/>
              <a:t>אין אינטרנט קבוע</a:t>
            </a:r>
          </a:p>
          <a:p>
            <a:r>
              <a:rPr lang="he-IL" dirty="0"/>
              <a:t>יש רשת פנימית בלבד</a:t>
            </a:r>
          </a:p>
          <a:p>
            <a:r>
              <a:rPr lang="he-IL" dirty="0"/>
              <a:t>חיבור מוגבל / מאובטח</a:t>
            </a:r>
          </a:p>
          <a:p>
            <a:r>
              <a:rPr lang="he-IL" dirty="0"/>
              <a:t>החבילות:</a:t>
            </a:r>
          </a:p>
          <a:p>
            <a:r>
              <a:rPr lang="he-IL" dirty="0"/>
              <a:t>נשמרות בשרת פנימי</a:t>
            </a:r>
          </a:p>
          <a:p>
            <a:r>
              <a:rPr lang="he-IL" dirty="0"/>
              <a:t>לא נשלפות מהאינטרנט בזמן אמת</a:t>
            </a:r>
          </a:p>
          <a:p>
            <a:endParaRPr lang="he-IL" dirty="0"/>
          </a:p>
        </p:txBody>
      </p:sp>
      <p:sp>
        <p:nvSpPr>
          <p:cNvPr id="4" name="מציין מיקום של מספר שקופית 3"/>
          <p:cNvSpPr>
            <a:spLocks noGrp="1"/>
          </p:cNvSpPr>
          <p:nvPr>
            <p:ph type="sldNum" sz="quarter" idx="5"/>
          </p:nvPr>
        </p:nvSpPr>
        <p:spPr/>
        <p:txBody>
          <a:bodyPr/>
          <a:lstStyle/>
          <a:p>
            <a:fld id="{83C3C476-133C-4ADB-A596-7D34F4EC1F94}" type="slidenum">
              <a:rPr lang="he-IL" smtClean="0"/>
              <a:t>14</a:t>
            </a:fld>
            <a:endParaRPr lang="he-IL"/>
          </a:p>
        </p:txBody>
      </p:sp>
    </p:spTree>
    <p:extLst>
      <p:ext uri="{BB962C8B-B14F-4D97-AF65-F5344CB8AC3E}">
        <p14:creationId xmlns:p14="http://schemas.microsoft.com/office/powerpoint/2010/main" val="482194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2EA6B-6514-88A8-5A51-373CA27563F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CD16695A-248A-D59C-195C-86639D08C6E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93C8C40-6D75-6CE0-33C5-76AF189B232B}"/>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C90D6B84-34BB-C3B5-6CB3-C984B99292A0}"/>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83C3C476-133C-4ADB-A596-7D34F4EC1F94}"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15</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494051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54191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14413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0058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78646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13884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72376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53107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97433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7758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1287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9966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75085168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community.chocolatey.org/packages/"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hocolatey Software | Installing Chocolatey">
            <a:extLst>
              <a:ext uri="{FF2B5EF4-FFF2-40B4-BE49-F238E27FC236}">
                <a16:creationId xmlns:a16="http://schemas.microsoft.com/office/drawing/2014/main" id="{B74E2DFF-263B-2EAC-E307-4DFF9EBDB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33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4529A11E-7397-220E-EDE3-1F0EA49A490C}"/>
            </a:ext>
          </a:extLst>
        </p:cNvPr>
        <p:cNvGrpSpPr/>
        <p:nvPr/>
      </p:nvGrpSpPr>
      <p:grpSpPr>
        <a:xfrm>
          <a:off x="0" y="0"/>
          <a:ext cx="0" cy="0"/>
          <a:chOff x="0" y="0"/>
          <a:chExt cx="0" cy="0"/>
        </a:xfrm>
      </p:grpSpPr>
      <p:sp>
        <p:nvSpPr>
          <p:cNvPr id="21" name="תיבת טקסט 20">
            <a:extLst>
              <a:ext uri="{FF2B5EF4-FFF2-40B4-BE49-F238E27FC236}">
                <a16:creationId xmlns:a16="http://schemas.microsoft.com/office/drawing/2014/main" id="{D1EDBE05-12D7-A549-AEBC-B650558042D5}"/>
              </a:ext>
            </a:extLst>
          </p:cNvPr>
          <p:cNvSpPr txBox="1"/>
          <p:nvPr/>
        </p:nvSpPr>
        <p:spPr>
          <a:xfrm>
            <a:off x="1151021" y="2613140"/>
            <a:ext cx="9601200" cy="3803703"/>
          </a:xfrm>
          <a:prstGeom prst="rect">
            <a:avLst/>
          </a:prstGeom>
          <a:noFill/>
        </p:spPr>
        <p:txBody>
          <a:bodyPr wrap="square" rtlCol="1">
            <a:spAutoFit/>
          </a:bodyPr>
          <a:lstStyle/>
          <a:p>
            <a:pPr lvl="0" algn="l" rtl="0">
              <a:lnSpc>
                <a:spcPct val="250000"/>
              </a:lnSpc>
              <a:defRPr/>
            </a:pPr>
            <a:endParaRPr lang="en-US" sz="2400" dirty="0">
              <a:solidFill>
                <a:prstClr val="white"/>
              </a:solidFill>
            </a:endParaRPr>
          </a:p>
        </p:txBody>
      </p:sp>
      <p:sp>
        <p:nvSpPr>
          <p:cNvPr id="3" name="תיבת טקסט 2">
            <a:extLst>
              <a:ext uri="{FF2B5EF4-FFF2-40B4-BE49-F238E27FC236}">
                <a16:creationId xmlns:a16="http://schemas.microsoft.com/office/drawing/2014/main" id="{9F3CA2E1-3FD0-6C66-8117-F1487D3D178A}"/>
              </a:ext>
            </a:extLst>
          </p:cNvPr>
          <p:cNvSpPr txBox="1"/>
          <p:nvPr/>
        </p:nvSpPr>
        <p:spPr>
          <a:xfrm>
            <a:off x="3693053" y="286031"/>
            <a:ext cx="4517136"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3200" b="1" dirty="0">
                <a:solidFill>
                  <a:prstClr val="white"/>
                </a:solidFill>
                <a:latin typeface="Berlin Sans FB Demi" panose="020E0802020502020306" pitchFamily="34" charset="0"/>
              </a:rPr>
              <a:t>Presentation Overview</a:t>
            </a:r>
            <a:endParaRPr lang="he-IL" sz="3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תיבת טקסט 4">
            <a:extLst>
              <a:ext uri="{FF2B5EF4-FFF2-40B4-BE49-F238E27FC236}">
                <a16:creationId xmlns:a16="http://schemas.microsoft.com/office/drawing/2014/main" id="{E078EA67-FABE-331F-51AB-547973816189}"/>
              </a:ext>
            </a:extLst>
          </p:cNvPr>
          <p:cNvSpPr txBox="1"/>
          <p:nvPr/>
        </p:nvSpPr>
        <p:spPr>
          <a:xfrm>
            <a:off x="1038726" y="1403804"/>
            <a:ext cx="8959516" cy="5013039"/>
          </a:xfrm>
          <a:prstGeom prst="rect">
            <a:avLst/>
          </a:prstGeom>
          <a:noFill/>
        </p:spPr>
        <p:txBody>
          <a:bodyPr wrap="square">
            <a:spAutoFit/>
          </a:bodyPr>
          <a:lstStyle/>
          <a:p>
            <a:pPr marL="457200" indent="-457200" algn="l" rtl="0">
              <a:lnSpc>
                <a:spcPct val="150000"/>
              </a:lnSpc>
              <a:buFont typeface="+mj-lt"/>
              <a:buAutoNum type="arabicPeriod"/>
            </a:pPr>
            <a:r>
              <a:rPr lang="he-IL" sz="2400" dirty="0" err="1">
                <a:solidFill>
                  <a:prstClr val="white"/>
                </a:solidFill>
              </a:rPr>
              <a:t>Present</a:t>
            </a:r>
            <a:r>
              <a:rPr lang="he-IL" sz="2400" dirty="0">
                <a:solidFill>
                  <a:prstClr val="white"/>
                </a:solidFill>
              </a:rPr>
              <a:t> a </a:t>
            </a:r>
            <a:r>
              <a:rPr lang="he-IL" sz="2400" dirty="0" err="1">
                <a:solidFill>
                  <a:prstClr val="white"/>
                </a:solidFill>
              </a:rPr>
              <a:t>problem</a:t>
            </a:r>
            <a:endParaRPr lang="he-IL" sz="2400" dirty="0">
              <a:solidFill>
                <a:prstClr val="white"/>
              </a:solidFill>
            </a:endParaRPr>
          </a:p>
          <a:p>
            <a:pPr marL="457200" indent="-457200" algn="l" rtl="0">
              <a:lnSpc>
                <a:spcPct val="150000"/>
              </a:lnSpc>
              <a:buFont typeface="+mj-lt"/>
              <a:buAutoNum type="arabicPeriod"/>
            </a:pPr>
            <a:r>
              <a:rPr lang="en-US" sz="2400" dirty="0">
                <a:solidFill>
                  <a:prstClr val="white"/>
                </a:solidFill>
              </a:rPr>
              <a:t>E</a:t>
            </a:r>
            <a:r>
              <a:rPr lang="he-IL" sz="2400" dirty="0" err="1">
                <a:solidFill>
                  <a:prstClr val="white"/>
                </a:solidFill>
              </a:rPr>
              <a:t>xplain</a:t>
            </a:r>
            <a:r>
              <a:rPr lang="he-IL" sz="2400" dirty="0">
                <a:solidFill>
                  <a:prstClr val="white"/>
                </a:solidFill>
              </a:rPr>
              <a:t> </a:t>
            </a:r>
            <a:r>
              <a:rPr lang="he-IL" sz="2400" dirty="0" err="1">
                <a:solidFill>
                  <a:prstClr val="white"/>
                </a:solidFill>
              </a:rPr>
              <a:t>the</a:t>
            </a:r>
            <a:r>
              <a:rPr lang="he-IL" sz="2400" dirty="0">
                <a:solidFill>
                  <a:prstClr val="white"/>
                </a:solidFill>
              </a:rPr>
              <a:t> </a:t>
            </a:r>
            <a:r>
              <a:rPr lang="he-IL" sz="2400" dirty="0" err="1">
                <a:solidFill>
                  <a:prstClr val="white"/>
                </a:solidFill>
              </a:rPr>
              <a:t>topic</a:t>
            </a:r>
            <a:endParaRPr lang="he-IL" sz="2400" dirty="0">
              <a:solidFill>
                <a:prstClr val="white"/>
              </a:solidFill>
            </a:endParaRPr>
          </a:p>
          <a:p>
            <a:pPr marL="457200" indent="-457200" algn="l" rtl="0">
              <a:lnSpc>
                <a:spcPct val="150000"/>
              </a:lnSpc>
              <a:buFont typeface="+mj-lt"/>
              <a:buAutoNum type="arabicPeriod"/>
            </a:pPr>
            <a:r>
              <a:rPr lang="en-US" sz="2400" dirty="0">
                <a:solidFill>
                  <a:prstClr val="white"/>
                </a:solidFill>
              </a:rPr>
              <a:t>W</a:t>
            </a:r>
            <a:r>
              <a:rPr lang="he-IL" sz="2400" dirty="0" err="1">
                <a:solidFill>
                  <a:prstClr val="white"/>
                </a:solidFill>
              </a:rPr>
              <a:t>hy</a:t>
            </a:r>
            <a:r>
              <a:rPr lang="he-IL" sz="2400" dirty="0">
                <a:solidFill>
                  <a:prstClr val="white"/>
                </a:solidFill>
              </a:rPr>
              <a:t> </a:t>
            </a:r>
            <a:r>
              <a:rPr lang="he-IL" sz="2400" dirty="0" err="1">
                <a:solidFill>
                  <a:prstClr val="white"/>
                </a:solidFill>
              </a:rPr>
              <a:t>you</a:t>
            </a:r>
            <a:r>
              <a:rPr lang="he-IL" sz="2400" dirty="0">
                <a:solidFill>
                  <a:prstClr val="white"/>
                </a:solidFill>
              </a:rPr>
              <a:t> </a:t>
            </a:r>
            <a:r>
              <a:rPr lang="he-IL" sz="2400" dirty="0" err="1">
                <a:solidFill>
                  <a:prstClr val="white"/>
                </a:solidFill>
              </a:rPr>
              <a:t>need</a:t>
            </a:r>
            <a:r>
              <a:rPr lang="he-IL" sz="2400" dirty="0">
                <a:solidFill>
                  <a:prstClr val="white"/>
                </a:solidFill>
              </a:rPr>
              <a:t> </a:t>
            </a:r>
            <a:r>
              <a:rPr lang="he-IL" sz="2400" dirty="0" err="1">
                <a:solidFill>
                  <a:prstClr val="white"/>
                </a:solidFill>
              </a:rPr>
              <a:t>it</a:t>
            </a:r>
            <a:endParaRPr lang="he-IL" sz="2400" dirty="0">
              <a:solidFill>
                <a:prstClr val="white"/>
              </a:solidFill>
            </a:endParaRPr>
          </a:p>
          <a:p>
            <a:pPr marL="457200" indent="-457200" algn="l" rtl="0">
              <a:lnSpc>
                <a:spcPct val="150000"/>
              </a:lnSpc>
              <a:buFont typeface="+mj-lt"/>
              <a:buAutoNum type="arabicPeriod"/>
            </a:pPr>
            <a:r>
              <a:rPr lang="en-US" sz="2400" dirty="0">
                <a:solidFill>
                  <a:prstClr val="white"/>
                </a:solidFill>
              </a:rPr>
              <a:t>A</a:t>
            </a:r>
            <a:r>
              <a:rPr lang="he-IL" sz="2400" dirty="0" err="1">
                <a:solidFill>
                  <a:prstClr val="white"/>
                </a:solidFill>
              </a:rPr>
              <a:t>dvantages</a:t>
            </a:r>
            <a:r>
              <a:rPr lang="he-IL" sz="2400" dirty="0">
                <a:solidFill>
                  <a:prstClr val="white"/>
                </a:solidFill>
              </a:rPr>
              <a:t> </a:t>
            </a:r>
            <a:r>
              <a:rPr lang="en-US" sz="2400" dirty="0">
                <a:solidFill>
                  <a:prstClr val="white"/>
                </a:solidFill>
              </a:rPr>
              <a:t>&amp; d</a:t>
            </a:r>
            <a:r>
              <a:rPr lang="he-IL" sz="2400" dirty="0" err="1">
                <a:solidFill>
                  <a:prstClr val="white"/>
                </a:solidFill>
              </a:rPr>
              <a:t>isadvantages</a:t>
            </a:r>
            <a:endParaRPr lang="he-IL" sz="2400" dirty="0">
              <a:solidFill>
                <a:prstClr val="white"/>
              </a:solidFill>
            </a:endParaRPr>
          </a:p>
          <a:p>
            <a:pPr marL="457200" indent="-457200" algn="l" rtl="0">
              <a:lnSpc>
                <a:spcPct val="150000"/>
              </a:lnSpc>
              <a:buFont typeface="+mj-lt"/>
              <a:buAutoNum type="arabicPeriod"/>
            </a:pPr>
            <a:r>
              <a:rPr lang="en-US" sz="2400" dirty="0">
                <a:solidFill>
                  <a:prstClr val="white"/>
                </a:solidFill>
              </a:rPr>
              <a:t>E</a:t>
            </a:r>
            <a:r>
              <a:rPr lang="he-IL" sz="2400" dirty="0" err="1">
                <a:solidFill>
                  <a:prstClr val="white"/>
                </a:solidFill>
              </a:rPr>
              <a:t>xamples</a:t>
            </a:r>
            <a:r>
              <a:rPr lang="he-IL" sz="2400" dirty="0">
                <a:solidFill>
                  <a:prstClr val="white"/>
                </a:solidFill>
              </a:rPr>
              <a:t> </a:t>
            </a:r>
            <a:r>
              <a:rPr lang="he-IL" sz="2400" dirty="0" err="1">
                <a:solidFill>
                  <a:prstClr val="white"/>
                </a:solidFill>
              </a:rPr>
              <a:t>of</a:t>
            </a:r>
            <a:r>
              <a:rPr lang="he-IL" sz="2400" dirty="0">
                <a:solidFill>
                  <a:prstClr val="white"/>
                </a:solidFill>
              </a:rPr>
              <a:t> </a:t>
            </a:r>
            <a:r>
              <a:rPr lang="he-IL" sz="2400" dirty="0" err="1">
                <a:solidFill>
                  <a:prstClr val="white"/>
                </a:solidFill>
              </a:rPr>
              <a:t>using</a:t>
            </a:r>
            <a:r>
              <a:rPr lang="he-IL" sz="2400" dirty="0">
                <a:solidFill>
                  <a:prstClr val="white"/>
                </a:solidFill>
              </a:rPr>
              <a:t> </a:t>
            </a:r>
            <a:r>
              <a:rPr lang="he-IL" sz="2400" dirty="0" err="1">
                <a:solidFill>
                  <a:prstClr val="white"/>
                </a:solidFill>
              </a:rPr>
              <a:t>the</a:t>
            </a:r>
            <a:r>
              <a:rPr lang="he-IL" sz="2400" dirty="0">
                <a:solidFill>
                  <a:prstClr val="white"/>
                </a:solidFill>
              </a:rPr>
              <a:t> </a:t>
            </a:r>
            <a:r>
              <a:rPr lang="en-US" sz="2400" dirty="0">
                <a:solidFill>
                  <a:prstClr val="white"/>
                </a:solidFill>
              </a:rPr>
              <a:t>CLI</a:t>
            </a:r>
            <a:r>
              <a:rPr lang="he-IL" sz="2400" dirty="0">
                <a:solidFill>
                  <a:prstClr val="white"/>
                </a:solidFill>
              </a:rPr>
              <a:t>,</a:t>
            </a:r>
          </a:p>
          <a:p>
            <a:pPr marL="457200" indent="-457200" algn="l" rtl="0">
              <a:lnSpc>
                <a:spcPct val="150000"/>
              </a:lnSpc>
              <a:buFont typeface="+mj-lt"/>
              <a:buAutoNum type="arabicPeriod"/>
            </a:pPr>
            <a:r>
              <a:rPr lang="en-US" sz="2400" dirty="0">
                <a:solidFill>
                  <a:prstClr val="white"/>
                </a:solidFill>
              </a:rPr>
              <a:t>Chocolatey </a:t>
            </a:r>
            <a:r>
              <a:rPr lang="he-IL" sz="2400" dirty="0" err="1">
                <a:solidFill>
                  <a:prstClr val="white"/>
                </a:solidFill>
              </a:rPr>
              <a:t>community</a:t>
            </a:r>
            <a:endParaRPr lang="he-IL" sz="2400" dirty="0">
              <a:solidFill>
                <a:prstClr val="white"/>
              </a:solidFill>
            </a:endParaRPr>
          </a:p>
          <a:p>
            <a:pPr marL="457200" indent="-457200" algn="l" rtl="0">
              <a:lnSpc>
                <a:spcPct val="150000"/>
              </a:lnSpc>
              <a:buFont typeface="+mj-lt"/>
              <a:buAutoNum type="arabicPeriod"/>
            </a:pPr>
            <a:r>
              <a:rPr lang="en-US" sz="2400" dirty="0">
                <a:solidFill>
                  <a:prstClr val="white"/>
                </a:solidFill>
              </a:rPr>
              <a:t>D</a:t>
            </a:r>
            <a:r>
              <a:rPr lang="he-IL" sz="2400" dirty="0" err="1">
                <a:solidFill>
                  <a:prstClr val="white"/>
                </a:solidFill>
              </a:rPr>
              <a:t>ashboard</a:t>
            </a:r>
            <a:endParaRPr lang="he-IL" sz="2400" dirty="0">
              <a:solidFill>
                <a:prstClr val="white"/>
              </a:solidFill>
            </a:endParaRPr>
          </a:p>
          <a:p>
            <a:pPr marL="457200" indent="-457200" algn="l" rtl="0">
              <a:lnSpc>
                <a:spcPct val="150000"/>
              </a:lnSpc>
              <a:buFont typeface="+mj-lt"/>
              <a:buAutoNum type="arabicPeriod"/>
            </a:pPr>
            <a:r>
              <a:rPr lang="he-IL" sz="2400" dirty="0">
                <a:solidFill>
                  <a:prstClr val="white"/>
                </a:solidFill>
              </a:rPr>
              <a:t>GUI</a:t>
            </a:r>
            <a:r>
              <a:rPr lang="en-US" sz="2400" dirty="0">
                <a:solidFill>
                  <a:prstClr val="white"/>
                </a:solidFill>
              </a:rPr>
              <a:t> </a:t>
            </a:r>
            <a:r>
              <a:rPr lang="en-US" sz="2400" dirty="0" err="1">
                <a:solidFill>
                  <a:prstClr val="white"/>
                </a:solidFill>
              </a:rPr>
              <a:t>appearence</a:t>
            </a:r>
            <a:endParaRPr lang="he-IL" sz="2400" dirty="0">
              <a:solidFill>
                <a:prstClr val="white"/>
              </a:solidFill>
            </a:endParaRPr>
          </a:p>
          <a:p>
            <a:pPr marL="457200" indent="-457200" algn="l" rtl="0">
              <a:lnSpc>
                <a:spcPct val="150000"/>
              </a:lnSpc>
              <a:buFont typeface="+mj-lt"/>
              <a:buAutoNum type="arabicPeriod"/>
            </a:pPr>
            <a:r>
              <a:rPr lang="en-US" sz="2400" dirty="0">
                <a:solidFill>
                  <a:prstClr val="white"/>
                </a:solidFill>
              </a:rPr>
              <a:t>D</a:t>
            </a:r>
            <a:r>
              <a:rPr lang="he-IL" sz="2400" dirty="0" err="1">
                <a:solidFill>
                  <a:prstClr val="white"/>
                </a:solidFill>
              </a:rPr>
              <a:t>emonstrate</a:t>
            </a:r>
            <a:r>
              <a:rPr lang="he-IL" sz="2400" dirty="0">
                <a:solidFill>
                  <a:prstClr val="white"/>
                </a:solidFill>
              </a:rPr>
              <a:t> </a:t>
            </a:r>
            <a:r>
              <a:rPr lang="he-IL" sz="2400" dirty="0" err="1">
                <a:solidFill>
                  <a:prstClr val="white"/>
                </a:solidFill>
              </a:rPr>
              <a:t>live</a:t>
            </a:r>
            <a:r>
              <a:rPr lang="he-IL" sz="2400" dirty="0">
                <a:solidFill>
                  <a:prstClr val="white"/>
                </a:solidFill>
              </a:rPr>
              <a:t> </a:t>
            </a:r>
            <a:r>
              <a:rPr lang="en-US" sz="2400" dirty="0">
                <a:solidFill>
                  <a:prstClr val="white"/>
                </a:solidFill>
              </a:rPr>
              <a:t>Demo (CLI,GUI)</a:t>
            </a:r>
            <a:endParaRPr lang="he-IL" dirty="0"/>
          </a:p>
        </p:txBody>
      </p:sp>
      <p:grpSp>
        <p:nvGrpSpPr>
          <p:cNvPr id="15" name="קבוצה 14">
            <a:extLst>
              <a:ext uri="{FF2B5EF4-FFF2-40B4-BE49-F238E27FC236}">
                <a16:creationId xmlns:a16="http://schemas.microsoft.com/office/drawing/2014/main" id="{FC2667F0-4692-99A0-219E-678057B43AE3}"/>
              </a:ext>
            </a:extLst>
          </p:cNvPr>
          <p:cNvGrpSpPr/>
          <p:nvPr/>
        </p:nvGrpSpPr>
        <p:grpSpPr>
          <a:xfrm>
            <a:off x="313879" y="1114620"/>
            <a:ext cx="11564242" cy="5591406"/>
            <a:chOff x="313879" y="1114620"/>
            <a:chExt cx="11564242" cy="5591406"/>
          </a:xfrm>
        </p:grpSpPr>
        <p:pic>
          <p:nvPicPr>
            <p:cNvPr id="13" name="תמונה 12">
              <a:extLst>
                <a:ext uri="{FF2B5EF4-FFF2-40B4-BE49-F238E27FC236}">
                  <a16:creationId xmlns:a16="http://schemas.microsoft.com/office/drawing/2014/main" id="{4042FDFA-B042-7087-60C4-6E1A17CEBE7C}"/>
                </a:ext>
              </a:extLst>
            </p:cNvPr>
            <p:cNvPicPr>
              <a:picLocks noChangeAspect="1"/>
            </p:cNvPicPr>
            <p:nvPr/>
          </p:nvPicPr>
          <p:blipFill>
            <a:blip r:embed="rId3"/>
            <a:stretch>
              <a:fillRect/>
            </a:stretch>
          </p:blipFill>
          <p:spPr>
            <a:xfrm>
              <a:off x="313879" y="1114620"/>
              <a:ext cx="11564242" cy="5591406"/>
            </a:xfrm>
            <a:prstGeom prst="rect">
              <a:avLst/>
            </a:prstGeom>
            <a:ln w="3175">
              <a:solidFill>
                <a:schemeClr val="bg1"/>
              </a:solidFill>
            </a:ln>
          </p:spPr>
        </p:pic>
        <p:sp>
          <p:nvSpPr>
            <p:cNvPr id="14" name="מלבן 13">
              <a:extLst>
                <a:ext uri="{FF2B5EF4-FFF2-40B4-BE49-F238E27FC236}">
                  <a16:creationId xmlns:a16="http://schemas.microsoft.com/office/drawing/2014/main" id="{5D9D7AFF-889C-D774-117F-F54CB3049C0C}"/>
                </a:ext>
              </a:extLst>
            </p:cNvPr>
            <p:cNvSpPr/>
            <p:nvPr/>
          </p:nvSpPr>
          <p:spPr>
            <a:xfrm>
              <a:off x="11245516" y="6140116"/>
              <a:ext cx="569495" cy="553453"/>
            </a:xfrm>
            <a:prstGeom prst="rect">
              <a:avLst/>
            </a:prstGeom>
            <a:solidFill>
              <a:srgbClr val="22324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n>
                  <a:solidFill>
                    <a:srgbClr val="386079"/>
                  </a:solidFill>
                </a:ln>
                <a:solidFill>
                  <a:srgbClr val="386079"/>
                </a:solidFill>
              </a:endParaRPr>
            </a:p>
          </p:txBody>
        </p:sp>
      </p:grpSp>
    </p:spTree>
    <p:extLst>
      <p:ext uri="{BB962C8B-B14F-4D97-AF65-F5344CB8AC3E}">
        <p14:creationId xmlns:p14="http://schemas.microsoft.com/office/powerpoint/2010/main" val="314777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p:cNvGrpSpPr/>
        <p:nvPr/>
      </p:nvGrpSpPr>
      <p:grpSpPr>
        <a:xfrm>
          <a:off x="0" y="0"/>
          <a:ext cx="0" cy="0"/>
          <a:chOff x="0" y="0"/>
          <a:chExt cx="0" cy="0"/>
        </a:xfrm>
      </p:grpSpPr>
      <p:pic>
        <p:nvPicPr>
          <p:cNvPr id="2050" name="Picture 2" descr="Chocolatey Software | Installing Chocolatey">
            <a:extLst>
              <a:ext uri="{FF2B5EF4-FFF2-40B4-BE49-F238E27FC236}">
                <a16:creationId xmlns:a16="http://schemas.microsoft.com/office/drawing/2014/main" id="{9714D61F-2A31-8B5C-EC6C-D611BEBE9A5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6042" y="5897880"/>
            <a:ext cx="820009" cy="740093"/>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a:extLst>
              <a:ext uri="{FF2B5EF4-FFF2-40B4-BE49-F238E27FC236}">
                <a16:creationId xmlns:a16="http://schemas.microsoft.com/office/drawing/2014/main" id="{E14E7B6D-68E2-E3CF-4EE6-9459001D4E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Neue Haas Grotesk Text Pro"/>
              <a:ea typeface="+mn-ea"/>
              <a:cs typeface="+mn-cs"/>
            </a:endParaRPr>
          </a:p>
        </p:txBody>
      </p:sp>
      <p:pic>
        <p:nvPicPr>
          <p:cNvPr id="4" name="תמונה 3">
            <a:extLst>
              <a:ext uri="{FF2B5EF4-FFF2-40B4-BE49-F238E27FC236}">
                <a16:creationId xmlns:a16="http://schemas.microsoft.com/office/drawing/2014/main" id="{FEBCE1FC-8EFB-E51B-7E79-F02DBF24C81C}"/>
              </a:ext>
            </a:extLst>
          </p:cNvPr>
          <p:cNvPicPr>
            <a:picLocks noChangeAspect="1"/>
          </p:cNvPicPr>
          <p:nvPr/>
        </p:nvPicPr>
        <p:blipFill>
          <a:blip r:embed="rId4"/>
          <a:stretch>
            <a:fillRect/>
          </a:stretch>
        </p:blipFill>
        <p:spPr>
          <a:xfrm>
            <a:off x="1649588" y="1084905"/>
            <a:ext cx="8588024" cy="4688189"/>
          </a:xfrm>
          <a:prstGeom prst="rect">
            <a:avLst/>
          </a:prstGeom>
        </p:spPr>
      </p:pic>
      <p:sp>
        <p:nvSpPr>
          <p:cNvPr id="5" name="תיבת טקסט 4">
            <a:extLst>
              <a:ext uri="{FF2B5EF4-FFF2-40B4-BE49-F238E27FC236}">
                <a16:creationId xmlns:a16="http://schemas.microsoft.com/office/drawing/2014/main" id="{E5CBAE8A-2A03-9386-3E15-EFF83ABB3523}"/>
              </a:ext>
            </a:extLst>
          </p:cNvPr>
          <p:cNvSpPr txBox="1"/>
          <p:nvPr/>
        </p:nvSpPr>
        <p:spPr>
          <a:xfrm>
            <a:off x="3685032" y="197799"/>
            <a:ext cx="4517136"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3200" b="1" dirty="0">
                <a:solidFill>
                  <a:prstClr val="white"/>
                </a:solidFill>
                <a:latin typeface="Berlin Sans FB Demi" panose="020E0802020502020306" pitchFamily="34" charset="0"/>
              </a:rPr>
              <a:t>The Problem</a:t>
            </a:r>
            <a:endParaRPr lang="he-IL" sz="3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53781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370DD660-725A-0222-F802-4F8DC62B35AB}"/>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506EC11D-9356-B544-AE46-6AF6BDD796F3}"/>
              </a:ext>
            </a:extLst>
          </p:cNvPr>
          <p:cNvSpPr txBox="1"/>
          <p:nvPr/>
        </p:nvSpPr>
        <p:spPr>
          <a:xfrm>
            <a:off x="3606358" y="185916"/>
            <a:ext cx="4979283"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Chocolatey</a:t>
            </a:r>
            <a:r>
              <a:rPr kumimoji="0" lang="en-US" sz="2800" b="1" i="0" u="none" strike="noStrike" kern="1200" cap="none" spc="0" normalizeH="0" baseline="0" noProof="0" dirty="0">
                <a:ln>
                  <a:noFill/>
                </a:ln>
                <a:solidFill>
                  <a:prstClr val="white"/>
                </a:solidFill>
                <a:effectLst/>
                <a:uLnTx/>
                <a:uFillTx/>
                <a:latin typeface="Berlin Sans FB Demi" panose="020E0802020502020306" pitchFamily="34" charset="0"/>
                <a:ea typeface="+mn-ea"/>
                <a:cs typeface="+mn-cs"/>
              </a:rPr>
              <a:t>: </a:t>
            </a: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What it is?</a:t>
            </a:r>
            <a:endParaRPr lang="he-IL" sz="3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1" name="תיבת טקסט 10">
            <a:extLst>
              <a:ext uri="{FF2B5EF4-FFF2-40B4-BE49-F238E27FC236}">
                <a16:creationId xmlns:a16="http://schemas.microsoft.com/office/drawing/2014/main" id="{BE569382-0412-62A1-FF5A-BEC2E16CB532}"/>
              </a:ext>
            </a:extLst>
          </p:cNvPr>
          <p:cNvSpPr txBox="1"/>
          <p:nvPr/>
        </p:nvSpPr>
        <p:spPr>
          <a:xfrm>
            <a:off x="1325880" y="2148935"/>
            <a:ext cx="9939528"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Neue Haas Grotesk Text Pro"/>
              <a:ea typeface="+mn-ea"/>
              <a:cs typeface="+mn-cs"/>
            </a:endParaRPr>
          </a:p>
        </p:txBody>
      </p:sp>
      <p:sp>
        <p:nvSpPr>
          <p:cNvPr id="3" name="תיבת טקסט 2">
            <a:extLst>
              <a:ext uri="{FF2B5EF4-FFF2-40B4-BE49-F238E27FC236}">
                <a16:creationId xmlns:a16="http://schemas.microsoft.com/office/drawing/2014/main" id="{B7CBB79E-53C4-EB34-802E-2C0E64B1A759}"/>
              </a:ext>
            </a:extLst>
          </p:cNvPr>
          <p:cNvSpPr txBox="1"/>
          <p:nvPr/>
        </p:nvSpPr>
        <p:spPr>
          <a:xfrm>
            <a:off x="2872812" y="6182334"/>
            <a:ext cx="6845664" cy="459421"/>
          </a:xfrm>
          <a:prstGeom prst="rect">
            <a:avLst/>
          </a:prstGeom>
          <a:noFill/>
        </p:spPr>
        <p:txBody>
          <a:bodyPr wrap="square" rtlCol="1">
            <a:spAutoFit/>
          </a:bodyPr>
          <a:lstStyle/>
          <a:p>
            <a:pPr lvl="0" algn="l" rtl="0">
              <a:lnSpc>
                <a:spcPct val="150000"/>
              </a:lnSpc>
            </a:pPr>
            <a:r>
              <a:rPr lang="en-US" dirty="0">
                <a:solidFill>
                  <a:prstClr val="white"/>
                </a:solidFill>
              </a:rPr>
              <a:t>*Linux always had it, and with that - windows won’t stay behind</a:t>
            </a:r>
          </a:p>
        </p:txBody>
      </p:sp>
      <p:grpSp>
        <p:nvGrpSpPr>
          <p:cNvPr id="23" name="קבוצה 22">
            <a:extLst>
              <a:ext uri="{FF2B5EF4-FFF2-40B4-BE49-F238E27FC236}">
                <a16:creationId xmlns:a16="http://schemas.microsoft.com/office/drawing/2014/main" id="{70128262-4616-4911-658B-1ED2EBFDA018}"/>
              </a:ext>
            </a:extLst>
          </p:cNvPr>
          <p:cNvGrpSpPr/>
          <p:nvPr/>
        </p:nvGrpSpPr>
        <p:grpSpPr>
          <a:xfrm>
            <a:off x="295273" y="1399767"/>
            <a:ext cx="11601451" cy="3761584"/>
            <a:chOff x="991053" y="2514037"/>
            <a:chExt cx="11096589" cy="2855151"/>
          </a:xfrm>
        </p:grpSpPr>
        <p:sp>
          <p:nvSpPr>
            <p:cNvPr id="12" name="תיבת טקסט 11">
              <a:extLst>
                <a:ext uri="{FF2B5EF4-FFF2-40B4-BE49-F238E27FC236}">
                  <a16:creationId xmlns:a16="http://schemas.microsoft.com/office/drawing/2014/main" id="{C15C4B31-41E7-E995-96B7-FE621FEE7B4F}"/>
                </a:ext>
              </a:extLst>
            </p:cNvPr>
            <p:cNvSpPr txBox="1"/>
            <p:nvPr/>
          </p:nvSpPr>
          <p:spPr>
            <a:xfrm>
              <a:off x="2148114" y="2514037"/>
              <a:ext cx="9939528" cy="861261"/>
            </a:xfrm>
            <a:prstGeom prst="rect">
              <a:avLst/>
            </a:prstGeom>
            <a:noFill/>
          </p:spPr>
          <p:txBody>
            <a:bodyPr wrap="square" rtlCol="1">
              <a:spAutoFit/>
            </a:bodyPr>
            <a:lstStyle/>
            <a:p>
              <a:pPr algn="l" rtl="0">
                <a:lnSpc>
                  <a:spcPct val="250000"/>
                </a:lnSpc>
              </a:pPr>
              <a:r>
                <a:rPr lang="en-US" sz="2400" b="1" dirty="0">
                  <a:solidFill>
                    <a:prstClr val="white"/>
                  </a:solidFill>
                </a:rPr>
                <a:t>Central Hub</a:t>
              </a:r>
              <a:r>
                <a:rPr lang="en-US" sz="2400" dirty="0">
                  <a:solidFill>
                    <a:prstClr val="white"/>
                  </a:solidFill>
                </a:rPr>
                <a:t>: A single place to find thousands of Windows programs</a:t>
              </a:r>
            </a:p>
          </p:txBody>
        </p:sp>
        <p:pic>
          <p:nvPicPr>
            <p:cNvPr id="14" name="תמונה 13">
              <a:extLst>
                <a:ext uri="{FF2B5EF4-FFF2-40B4-BE49-F238E27FC236}">
                  <a16:creationId xmlns:a16="http://schemas.microsoft.com/office/drawing/2014/main" id="{7C00F0FB-BCD8-5312-1E02-F18777B8CAA8}"/>
                </a:ext>
              </a:extLst>
            </p:cNvPr>
            <p:cNvPicPr>
              <a:picLocks noChangeAspect="1"/>
            </p:cNvPicPr>
            <p:nvPr/>
          </p:nvPicPr>
          <p:blipFill>
            <a:blip r:embed="rId3"/>
            <a:stretch>
              <a:fillRect/>
            </a:stretch>
          </p:blipFill>
          <p:spPr>
            <a:xfrm>
              <a:off x="1095119" y="3677809"/>
              <a:ext cx="771051" cy="533923"/>
            </a:xfrm>
            <a:prstGeom prst="rect">
              <a:avLst/>
            </a:prstGeom>
          </p:spPr>
        </p:pic>
        <p:pic>
          <p:nvPicPr>
            <p:cNvPr id="16" name="תמונה 15">
              <a:extLst>
                <a:ext uri="{FF2B5EF4-FFF2-40B4-BE49-F238E27FC236}">
                  <a16:creationId xmlns:a16="http://schemas.microsoft.com/office/drawing/2014/main" id="{A9E4DF16-CF5D-B5DD-9F39-AE8493BC59A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91053" y="2657968"/>
              <a:ext cx="979182" cy="687587"/>
            </a:xfrm>
            <a:prstGeom prst="rect">
              <a:avLst/>
            </a:prstGeom>
            <a:noFill/>
          </p:spPr>
        </p:pic>
        <p:pic>
          <p:nvPicPr>
            <p:cNvPr id="20" name="תמונה 19">
              <a:extLst>
                <a:ext uri="{FF2B5EF4-FFF2-40B4-BE49-F238E27FC236}">
                  <a16:creationId xmlns:a16="http://schemas.microsoft.com/office/drawing/2014/main" id="{071B6C45-09B4-6367-E773-64C69A11F959}"/>
                </a:ext>
              </a:extLst>
            </p:cNvPr>
            <p:cNvPicPr>
              <a:picLocks noChangeAspect="1"/>
            </p:cNvPicPr>
            <p:nvPr/>
          </p:nvPicPr>
          <p:blipFill>
            <a:blip r:embed="rId5"/>
            <a:stretch>
              <a:fillRect/>
            </a:stretch>
          </p:blipFill>
          <p:spPr>
            <a:xfrm>
              <a:off x="1095119" y="4469916"/>
              <a:ext cx="890730" cy="687587"/>
            </a:xfrm>
            <a:prstGeom prst="rect">
              <a:avLst/>
            </a:prstGeom>
          </p:spPr>
        </p:pic>
        <p:sp>
          <p:nvSpPr>
            <p:cNvPr id="21" name="תיבת טקסט 20">
              <a:extLst>
                <a:ext uri="{FF2B5EF4-FFF2-40B4-BE49-F238E27FC236}">
                  <a16:creationId xmlns:a16="http://schemas.microsoft.com/office/drawing/2014/main" id="{8123E09A-AB3E-7E93-2676-608F8AE27CE5}"/>
                </a:ext>
              </a:extLst>
            </p:cNvPr>
            <p:cNvSpPr txBox="1"/>
            <p:nvPr/>
          </p:nvSpPr>
          <p:spPr>
            <a:xfrm>
              <a:off x="2148114" y="3421487"/>
              <a:ext cx="8170322" cy="694040"/>
            </a:xfrm>
            <a:prstGeom prst="rect">
              <a:avLst/>
            </a:prstGeom>
            <a:noFill/>
          </p:spPr>
          <p:txBody>
            <a:bodyPr wrap="square" rtlCol="1">
              <a:spAutoFit/>
            </a:bodyPr>
            <a:lstStyle/>
            <a:p>
              <a:pPr lvl="0" algn="l" rtl="0">
                <a:lnSpc>
                  <a:spcPct val="250000"/>
                </a:lnSpc>
                <a:defRPr/>
              </a:pPr>
              <a:r>
                <a:rPr lang="en-US" sz="2400" dirty="0">
                  <a:solidFill>
                    <a:prstClr val="white"/>
                  </a:solidFill>
                </a:rPr>
                <a:t>Uses a command line interface (CLI)</a:t>
              </a:r>
            </a:p>
          </p:txBody>
        </p:sp>
        <p:sp>
          <p:nvSpPr>
            <p:cNvPr id="22" name="תיבת טקסט 21">
              <a:extLst>
                <a:ext uri="{FF2B5EF4-FFF2-40B4-BE49-F238E27FC236}">
                  <a16:creationId xmlns:a16="http://schemas.microsoft.com/office/drawing/2014/main" id="{BC0D6DF1-64EE-D5EF-6327-B1ABF8865AA2}"/>
                </a:ext>
              </a:extLst>
            </p:cNvPr>
            <p:cNvSpPr txBox="1"/>
            <p:nvPr/>
          </p:nvSpPr>
          <p:spPr>
            <a:xfrm>
              <a:off x="2148114" y="4451298"/>
              <a:ext cx="9622972" cy="917890"/>
            </a:xfrm>
            <a:prstGeom prst="rect">
              <a:avLst/>
            </a:prstGeom>
            <a:noFill/>
          </p:spPr>
          <p:txBody>
            <a:bodyPr wrap="square" rtlCol="1">
              <a:spAutoFit/>
            </a:bodyPr>
            <a:lstStyle/>
            <a:p>
              <a:pPr lvl="0" algn="l" rtl="0">
                <a:lnSpc>
                  <a:spcPct val="150000"/>
                </a:lnSpc>
              </a:pPr>
              <a:r>
                <a:rPr lang="en-US" sz="2400" b="1" dirty="0">
                  <a:solidFill>
                    <a:prstClr val="white"/>
                  </a:solidFill>
                </a:rPr>
                <a:t>Dependency Management</a:t>
              </a:r>
              <a:r>
                <a:rPr lang="en-US" sz="2400" dirty="0">
                  <a:solidFill>
                    <a:prstClr val="white"/>
                  </a:solidFill>
                </a:rPr>
                <a:t>: It automatically installs "helper" tools that your app needs</a:t>
              </a:r>
            </a:p>
          </p:txBody>
        </p:sp>
      </p:grpSp>
    </p:spTree>
    <p:extLst>
      <p:ext uri="{BB962C8B-B14F-4D97-AF65-F5344CB8AC3E}">
        <p14:creationId xmlns:p14="http://schemas.microsoft.com/office/powerpoint/2010/main" val="4030100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58131725-7DAA-D86F-7AEE-97297517C197}"/>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AA37FBAC-A78D-53BA-6BFC-AB4A08C76051}"/>
              </a:ext>
            </a:extLst>
          </p:cNvPr>
          <p:cNvSpPr txBox="1"/>
          <p:nvPr/>
        </p:nvSpPr>
        <p:spPr>
          <a:xfrm>
            <a:off x="3606358" y="185916"/>
            <a:ext cx="4979283"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Chocolatey</a:t>
            </a:r>
            <a:r>
              <a:rPr kumimoji="0" lang="en-US" sz="2800" b="1" i="0" u="none" strike="noStrike" kern="1200" cap="none" spc="0" normalizeH="0" baseline="0" noProof="0" dirty="0">
                <a:ln>
                  <a:noFill/>
                </a:ln>
                <a:solidFill>
                  <a:prstClr val="white"/>
                </a:solidFill>
                <a:effectLst/>
                <a:uLnTx/>
                <a:uFillTx/>
                <a:latin typeface="Berlin Sans FB Demi" panose="020E0802020502020306" pitchFamily="34" charset="0"/>
                <a:ea typeface="+mn-ea"/>
                <a:cs typeface="+mn-cs"/>
              </a:rPr>
              <a:t>: </a:t>
            </a: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What it is?</a:t>
            </a:r>
            <a:endParaRPr lang="he-IL" sz="3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0" name="תיבת טקסט 9">
            <a:extLst>
              <a:ext uri="{FF2B5EF4-FFF2-40B4-BE49-F238E27FC236}">
                <a16:creationId xmlns:a16="http://schemas.microsoft.com/office/drawing/2014/main" id="{87142F76-30E0-E75F-CE97-B5DE5E1F64BF}"/>
              </a:ext>
            </a:extLst>
          </p:cNvPr>
          <p:cNvSpPr txBox="1"/>
          <p:nvPr/>
        </p:nvSpPr>
        <p:spPr>
          <a:xfrm>
            <a:off x="1126235" y="862222"/>
            <a:ext cx="9939528" cy="1135824"/>
          </a:xfrm>
          <a:prstGeom prst="rect">
            <a:avLst/>
          </a:prstGeom>
          <a:noFill/>
        </p:spPr>
        <p:txBody>
          <a:bodyPr wrap="square" rtlCol="1">
            <a:spAutoFit/>
          </a:bodyPr>
          <a:lstStyle/>
          <a:p>
            <a:pPr lvl="0" algn="l" rtl="0">
              <a:lnSpc>
                <a:spcPct val="150000"/>
              </a:lnSpc>
            </a:pPr>
            <a:r>
              <a:rPr lang="en-US" sz="2400" dirty="0">
                <a:solidFill>
                  <a:prstClr val="white"/>
                </a:solidFill>
              </a:rPr>
              <a:t>In simple words:  automates the process of </a:t>
            </a:r>
            <a:r>
              <a:rPr lang="en-US" sz="2400" u="sng" dirty="0">
                <a:solidFill>
                  <a:prstClr val="white"/>
                </a:solidFill>
              </a:rPr>
              <a:t>searching</a:t>
            </a:r>
            <a:r>
              <a:rPr lang="en-US" sz="2400" dirty="0">
                <a:solidFill>
                  <a:prstClr val="white"/>
                </a:solidFill>
              </a:rPr>
              <a:t> ,</a:t>
            </a:r>
            <a:r>
              <a:rPr lang="en-US" sz="2400" u="sng" dirty="0">
                <a:solidFill>
                  <a:prstClr val="white"/>
                </a:solidFill>
              </a:rPr>
              <a:t>in/</a:t>
            </a:r>
            <a:r>
              <a:rPr lang="en-US" sz="2400" u="sng" dirty="0" err="1">
                <a:solidFill>
                  <a:prstClr val="white"/>
                </a:solidFill>
              </a:rPr>
              <a:t>unstallation</a:t>
            </a:r>
            <a:r>
              <a:rPr lang="en-US" sz="2400" dirty="0">
                <a:solidFill>
                  <a:prstClr val="white"/>
                </a:solidFill>
              </a:rPr>
              <a:t> and </a:t>
            </a:r>
            <a:r>
              <a:rPr lang="en-US" sz="2400" u="sng" dirty="0">
                <a:solidFill>
                  <a:prstClr val="white"/>
                </a:solidFill>
              </a:rPr>
              <a:t>updating</a:t>
            </a:r>
            <a:r>
              <a:rPr lang="en-US" sz="2400" dirty="0">
                <a:solidFill>
                  <a:prstClr val="white"/>
                </a:solidFill>
              </a:rPr>
              <a:t> the software</a:t>
            </a:r>
          </a:p>
        </p:txBody>
      </p:sp>
      <p:sp>
        <p:nvSpPr>
          <p:cNvPr id="21" name="תיבת טקסט 20">
            <a:extLst>
              <a:ext uri="{FF2B5EF4-FFF2-40B4-BE49-F238E27FC236}">
                <a16:creationId xmlns:a16="http://schemas.microsoft.com/office/drawing/2014/main" id="{7B3586BC-9D11-4263-3F3C-299862112888}"/>
              </a:ext>
            </a:extLst>
          </p:cNvPr>
          <p:cNvSpPr txBox="1"/>
          <p:nvPr/>
        </p:nvSpPr>
        <p:spPr>
          <a:xfrm>
            <a:off x="1050758" y="2556992"/>
            <a:ext cx="9601200" cy="3803703"/>
          </a:xfrm>
          <a:prstGeom prst="rect">
            <a:avLst/>
          </a:prstGeom>
          <a:noFill/>
        </p:spPr>
        <p:txBody>
          <a:bodyPr wrap="square" rtlCol="1">
            <a:spAutoFit/>
          </a:bodyPr>
          <a:lstStyle/>
          <a:p>
            <a:pPr lvl="0" algn="l" rtl="0">
              <a:lnSpc>
                <a:spcPct val="250000"/>
              </a:lnSpc>
              <a:defRPr/>
            </a:pPr>
            <a:endParaRPr lang="en-US" sz="2400" dirty="0">
              <a:solidFill>
                <a:prstClr val="white"/>
              </a:solidFill>
            </a:endParaRPr>
          </a:p>
        </p:txBody>
      </p:sp>
      <p:grpSp>
        <p:nvGrpSpPr>
          <p:cNvPr id="8" name="קבוצה 7">
            <a:extLst>
              <a:ext uri="{FF2B5EF4-FFF2-40B4-BE49-F238E27FC236}">
                <a16:creationId xmlns:a16="http://schemas.microsoft.com/office/drawing/2014/main" id="{A75ED2E8-2CCD-CDA6-7FBA-2DD879D0696A}"/>
              </a:ext>
            </a:extLst>
          </p:cNvPr>
          <p:cNvGrpSpPr/>
          <p:nvPr/>
        </p:nvGrpSpPr>
        <p:grpSpPr>
          <a:xfrm>
            <a:off x="1126235" y="2441776"/>
            <a:ext cx="7178842" cy="3918919"/>
            <a:chOff x="1126235" y="2441776"/>
            <a:chExt cx="7178842" cy="3918919"/>
          </a:xfrm>
        </p:grpSpPr>
        <p:pic>
          <p:nvPicPr>
            <p:cNvPr id="6" name="תמונה 5">
              <a:extLst>
                <a:ext uri="{FF2B5EF4-FFF2-40B4-BE49-F238E27FC236}">
                  <a16:creationId xmlns:a16="http://schemas.microsoft.com/office/drawing/2014/main" id="{0823C601-9C77-0004-A4A4-85BD5FA6A3FA}"/>
                </a:ext>
              </a:extLst>
            </p:cNvPr>
            <p:cNvPicPr>
              <a:picLocks noChangeAspect="1"/>
            </p:cNvPicPr>
            <p:nvPr/>
          </p:nvPicPr>
          <p:blipFill>
            <a:blip r:embed="rId3"/>
            <a:stretch>
              <a:fillRect/>
            </a:stretch>
          </p:blipFill>
          <p:spPr>
            <a:xfrm>
              <a:off x="1126235" y="2441776"/>
              <a:ext cx="7178842" cy="3918919"/>
            </a:xfrm>
            <a:prstGeom prst="rect">
              <a:avLst/>
            </a:prstGeom>
          </p:spPr>
        </p:pic>
        <p:sp>
          <p:nvSpPr>
            <p:cNvPr id="7" name="מלבן 6">
              <a:extLst>
                <a:ext uri="{FF2B5EF4-FFF2-40B4-BE49-F238E27FC236}">
                  <a16:creationId xmlns:a16="http://schemas.microsoft.com/office/drawing/2014/main" id="{EC4AEBE7-4ED5-0A04-C26D-D764F1BB7255}"/>
                </a:ext>
              </a:extLst>
            </p:cNvPr>
            <p:cNvSpPr/>
            <p:nvPr/>
          </p:nvSpPr>
          <p:spPr>
            <a:xfrm>
              <a:off x="7877074" y="5962583"/>
              <a:ext cx="128337" cy="168442"/>
            </a:xfrm>
            <a:prstGeom prst="rect">
              <a:avLst/>
            </a:prstGeom>
            <a:solidFill>
              <a:srgbClr val="0D0F0E"/>
            </a:solidFill>
            <a:ln>
              <a:solidFill>
                <a:srgbClr val="0D0F0E"/>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pSp>
    </p:spTree>
    <p:extLst>
      <p:ext uri="{BB962C8B-B14F-4D97-AF65-F5344CB8AC3E}">
        <p14:creationId xmlns:p14="http://schemas.microsoft.com/office/powerpoint/2010/main" val="3763149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2DC7A99A-128C-C57A-71DB-25103C466A16}"/>
              </a:ext>
            </a:extLst>
          </p:cNvPr>
          <p:cNvSpPr txBox="1"/>
          <p:nvPr/>
        </p:nvSpPr>
        <p:spPr>
          <a:xfrm>
            <a:off x="3699546" y="173736"/>
            <a:ext cx="4517136" cy="1015663"/>
          </a:xfrm>
          <a:prstGeom prst="rect">
            <a:avLst/>
          </a:prstGeom>
          <a:noFill/>
        </p:spPr>
        <p:txBody>
          <a:bodyPr wrap="square" rtlCol="1">
            <a:spAutoFit/>
          </a:bodyPr>
          <a:lstStyle>
            <a:defPPr>
              <a:defRPr lang="he-IL"/>
            </a:defPPr>
            <a:lvl1pPr marR="0" lvl="0" indent="0" algn="ctr" fontAlgn="auto">
              <a:lnSpc>
                <a:spcPct val="100000"/>
              </a:lnSpc>
              <a:spcBef>
                <a:spcPts val="0"/>
              </a:spcBef>
              <a:spcAft>
                <a:spcPts val="0"/>
              </a:spcAft>
              <a:buClrTx/>
              <a:buSzTx/>
              <a:buFontTx/>
              <a:buNone/>
              <a:tabLst/>
              <a:defRPr kumimoji="0" sz="3200" b="1" i="0" u="none" strike="noStrike" cap="none" spc="0" normalizeH="0" baseline="0">
                <a:ln>
                  <a:noFill/>
                </a:ln>
                <a:solidFill>
                  <a:prstClr val="white"/>
                </a:solidFill>
                <a:effectLst/>
                <a:uLnTx/>
                <a:uFillTx/>
                <a:latin typeface="Berlin Sans FB Demi" panose="020E0802020502020306" pitchFamily="34" charset="0"/>
              </a:defRPr>
            </a:lvl1pPr>
          </a:lstStyle>
          <a:p>
            <a:r>
              <a:rPr lang="en-US" dirty="0"/>
              <a:t>Y do we need it?</a:t>
            </a:r>
          </a:p>
          <a:p>
            <a:r>
              <a:rPr lang="en-US" sz="2800" u="sng" dirty="0"/>
              <a:t>Key Benefits:</a:t>
            </a:r>
            <a:endParaRPr lang="he-IL" sz="2800" u="sng" dirty="0"/>
          </a:p>
        </p:txBody>
      </p:sp>
      <p:sp>
        <p:nvSpPr>
          <p:cNvPr id="3" name="תיבת טקסט 2">
            <a:extLst>
              <a:ext uri="{FF2B5EF4-FFF2-40B4-BE49-F238E27FC236}">
                <a16:creationId xmlns:a16="http://schemas.microsoft.com/office/drawing/2014/main" id="{1E3AD82A-851E-667C-0520-DF88AC332B44}"/>
              </a:ext>
            </a:extLst>
          </p:cNvPr>
          <p:cNvSpPr txBox="1"/>
          <p:nvPr/>
        </p:nvSpPr>
        <p:spPr>
          <a:xfrm>
            <a:off x="727891" y="2864276"/>
            <a:ext cx="3429000" cy="830997"/>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Neue Haas Grotesk Text Pro"/>
                <a:ea typeface="+mn-ea"/>
                <a:cs typeface="+mn-cs"/>
              </a:rPr>
              <a:t>Like an App Store for your windows PC</a:t>
            </a:r>
            <a:endParaRPr kumimoji="0" lang="he-IL" sz="2400" b="0" i="0" u="none" strike="noStrike" kern="1200" cap="none" spc="0" normalizeH="0" baseline="0" noProof="0" dirty="0">
              <a:ln>
                <a:noFill/>
              </a:ln>
              <a:solidFill>
                <a:schemeClr val="bg1"/>
              </a:solidFill>
              <a:effectLst/>
              <a:uLnTx/>
              <a:uFillTx/>
              <a:latin typeface="Neue Haas Grotesk Text Pro"/>
              <a:ea typeface="+mn-ea"/>
              <a:cs typeface="+mn-cs"/>
            </a:endParaRPr>
          </a:p>
        </p:txBody>
      </p:sp>
      <p:sp>
        <p:nvSpPr>
          <p:cNvPr id="4" name="תיבת טקסט 3">
            <a:extLst>
              <a:ext uri="{FF2B5EF4-FFF2-40B4-BE49-F238E27FC236}">
                <a16:creationId xmlns:a16="http://schemas.microsoft.com/office/drawing/2014/main" id="{038C93EE-9DC2-16C8-787F-292017D01B54}"/>
              </a:ext>
            </a:extLst>
          </p:cNvPr>
          <p:cNvSpPr txBox="1"/>
          <p:nvPr/>
        </p:nvSpPr>
        <p:spPr>
          <a:xfrm>
            <a:off x="631520" y="5622144"/>
            <a:ext cx="3429000" cy="830997"/>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Neue Haas Grotesk Text Pro"/>
                <a:ea typeface="+mn-ea"/>
                <a:cs typeface="+mn-cs"/>
              </a:rPr>
              <a:t>100% Automated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Neue Haas Grotesk Text Pro"/>
              </a:rPr>
              <a:t>0% manual work</a:t>
            </a:r>
            <a:endParaRPr kumimoji="0" lang="he-IL" sz="2400" b="0" i="0" u="none" strike="noStrike" kern="1200" cap="none" spc="0" normalizeH="0" baseline="0" noProof="0" dirty="0">
              <a:ln>
                <a:noFill/>
              </a:ln>
              <a:solidFill>
                <a:schemeClr val="bg1"/>
              </a:solidFill>
              <a:effectLst/>
              <a:uLnTx/>
              <a:uFillTx/>
              <a:latin typeface="Neue Haas Grotesk Text Pro"/>
              <a:ea typeface="+mn-ea"/>
              <a:cs typeface="+mn-cs"/>
            </a:endParaRPr>
          </a:p>
        </p:txBody>
      </p:sp>
      <p:sp>
        <p:nvSpPr>
          <p:cNvPr id="5" name="תיבת טקסט 4">
            <a:extLst>
              <a:ext uri="{FF2B5EF4-FFF2-40B4-BE49-F238E27FC236}">
                <a16:creationId xmlns:a16="http://schemas.microsoft.com/office/drawing/2014/main" id="{DC7168C0-34DA-A29C-C879-EE259BD91640}"/>
              </a:ext>
            </a:extLst>
          </p:cNvPr>
          <p:cNvSpPr txBox="1"/>
          <p:nvPr/>
        </p:nvSpPr>
        <p:spPr>
          <a:xfrm>
            <a:off x="8094655" y="3111868"/>
            <a:ext cx="3429000" cy="46166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Neue Haas Grotesk Text Pro"/>
              </a:rPr>
              <a:t>Security</a:t>
            </a:r>
            <a:endParaRPr kumimoji="0" lang="he-IL" sz="2400" b="0" i="0" u="none" strike="noStrike" kern="1200" cap="none" spc="0" normalizeH="0" baseline="0" noProof="0" dirty="0">
              <a:ln>
                <a:noFill/>
              </a:ln>
              <a:solidFill>
                <a:schemeClr val="bg1"/>
              </a:solidFill>
              <a:effectLst/>
              <a:uLnTx/>
              <a:uFillTx/>
              <a:latin typeface="Neue Haas Grotesk Text Pro"/>
              <a:ea typeface="+mn-ea"/>
              <a:cs typeface="+mn-cs"/>
            </a:endParaRPr>
          </a:p>
        </p:txBody>
      </p:sp>
      <p:sp>
        <p:nvSpPr>
          <p:cNvPr id="6" name="תיבת טקסט 5">
            <a:extLst>
              <a:ext uri="{FF2B5EF4-FFF2-40B4-BE49-F238E27FC236}">
                <a16:creationId xmlns:a16="http://schemas.microsoft.com/office/drawing/2014/main" id="{6369A1D7-C07E-FEE1-2FB7-789615C3D262}"/>
              </a:ext>
            </a:extLst>
          </p:cNvPr>
          <p:cNvSpPr txBox="1"/>
          <p:nvPr/>
        </p:nvSpPr>
        <p:spPr>
          <a:xfrm>
            <a:off x="8216682" y="5739237"/>
            <a:ext cx="3429000" cy="46166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Neue Haas Grotesk Text Pro"/>
                <a:ea typeface="+mn-ea"/>
                <a:cs typeface="+mn-cs"/>
              </a:rPr>
              <a:t>Time Saver</a:t>
            </a:r>
            <a:endParaRPr kumimoji="0" lang="he-IL" sz="2400" b="0" i="0" u="none" strike="noStrike" kern="1200" cap="none" spc="0" normalizeH="0" baseline="0" noProof="0" dirty="0">
              <a:ln>
                <a:noFill/>
              </a:ln>
              <a:solidFill>
                <a:schemeClr val="bg1"/>
              </a:solidFill>
              <a:effectLst/>
              <a:uLnTx/>
              <a:uFillTx/>
              <a:latin typeface="Neue Haas Grotesk Text Pro"/>
              <a:ea typeface="+mn-ea"/>
              <a:cs typeface="+mn-cs"/>
            </a:endParaRPr>
          </a:p>
        </p:txBody>
      </p:sp>
      <p:pic>
        <p:nvPicPr>
          <p:cNvPr id="3074" name="Picture 2" descr="How to Prepare for the App Store &amp; Google Play Store Review course lesson |  Uxcel">
            <a:extLst>
              <a:ext uri="{FF2B5EF4-FFF2-40B4-BE49-F238E27FC236}">
                <a16:creationId xmlns:a16="http://schemas.microsoft.com/office/drawing/2014/main" id="{3457B868-7275-9024-5F46-316920E812B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02391" y="1250633"/>
            <a:ext cx="2880000" cy="1800000"/>
          </a:xfrm>
          <a:prstGeom prst="rect">
            <a:avLst/>
          </a:prstGeom>
          <a:noFill/>
          <a:extLst>
            <a:ext uri="{909E8E84-426E-40DD-AFC4-6F175D3DCCD1}">
              <a14:hiddenFill xmlns:a14="http://schemas.microsoft.com/office/drawing/2010/main">
                <a:solidFill>
                  <a:srgbClr val="FFFFFF"/>
                </a:solidFill>
              </a14:hiddenFill>
            </a:ext>
          </a:extLst>
        </p:spPr>
      </p:pic>
      <p:sp>
        <p:nvSpPr>
          <p:cNvPr id="7" name="תיבת טקסט 6">
            <a:extLst>
              <a:ext uri="{FF2B5EF4-FFF2-40B4-BE49-F238E27FC236}">
                <a16:creationId xmlns:a16="http://schemas.microsoft.com/office/drawing/2014/main" id="{524CA489-7CCC-BE77-6F20-172FC8A7ACAE}"/>
              </a:ext>
            </a:extLst>
          </p:cNvPr>
          <p:cNvSpPr txBox="1"/>
          <p:nvPr/>
        </p:nvSpPr>
        <p:spPr>
          <a:xfrm>
            <a:off x="4242317" y="4349078"/>
            <a:ext cx="3429000" cy="461665"/>
          </a:xfrm>
          <a:prstGeom prst="rect">
            <a:avLst/>
          </a:prstGeom>
          <a:noFill/>
        </p:spPr>
        <p:txBody>
          <a:bodyPr wrap="square" rtlCol="1">
            <a:spAutoFit/>
          </a:bodyPr>
          <a:lstStyle/>
          <a:p>
            <a:pPr lvl="0" algn="ctr" rtl="0"/>
            <a:r>
              <a:rPr lang="en-US" sz="2400" dirty="0">
                <a:solidFill>
                  <a:schemeClr val="bg1"/>
                </a:solidFill>
              </a:rPr>
              <a:t>Standardization</a:t>
            </a:r>
            <a:endParaRPr kumimoji="0" lang="he-IL" sz="2400" b="0" i="0" u="none" strike="noStrike" kern="1200" cap="none" spc="0" normalizeH="0" baseline="0" noProof="0" dirty="0">
              <a:ln>
                <a:noFill/>
              </a:ln>
              <a:solidFill>
                <a:schemeClr val="bg1"/>
              </a:solidFill>
              <a:effectLst/>
              <a:uLnTx/>
              <a:uFillTx/>
              <a:latin typeface="Neue Haas Grotesk Text Pro"/>
              <a:ea typeface="+mn-ea"/>
              <a:cs typeface="+mn-cs"/>
            </a:endParaRPr>
          </a:p>
        </p:txBody>
      </p:sp>
      <p:pic>
        <p:nvPicPr>
          <p:cNvPr id="17" name="תמונה 16">
            <a:extLst>
              <a:ext uri="{FF2B5EF4-FFF2-40B4-BE49-F238E27FC236}">
                <a16:creationId xmlns:a16="http://schemas.microsoft.com/office/drawing/2014/main" id="{E12DF42B-CC97-6552-60EF-A5FE4D177DA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429357" y="3882250"/>
            <a:ext cx="2113643" cy="1856987"/>
          </a:xfrm>
          <a:prstGeom prst="rect">
            <a:avLst/>
          </a:prstGeom>
          <a:solidFill>
            <a:srgbClr val="202F3C"/>
          </a:solidFill>
        </p:spPr>
      </p:pic>
      <p:pic>
        <p:nvPicPr>
          <p:cNvPr id="19" name="תמונה 18">
            <a:extLst>
              <a:ext uri="{FF2B5EF4-FFF2-40B4-BE49-F238E27FC236}">
                <a16:creationId xmlns:a16="http://schemas.microsoft.com/office/drawing/2014/main" id="{B43FBB36-CB40-84A5-6B02-C5C6AF1E8ACF}"/>
              </a:ext>
            </a:extLst>
          </p:cNvPr>
          <p:cNvPicPr>
            <a:picLocks noChangeAspect="1"/>
          </p:cNvPicPr>
          <p:nvPr/>
        </p:nvPicPr>
        <p:blipFill>
          <a:blip r:embed="rId6">
            <a:clrChange>
              <a:clrFrom>
                <a:srgbClr val="1E2C37"/>
              </a:clrFrom>
              <a:clrTo>
                <a:srgbClr val="1E2C37">
                  <a:alpha val="0"/>
                </a:srgbClr>
              </a:clrTo>
            </a:clrChange>
            <a:alphaModFix/>
          </a:blip>
          <a:stretch>
            <a:fillRect/>
          </a:stretch>
        </p:blipFill>
        <p:spPr>
          <a:xfrm>
            <a:off x="4851446" y="2594985"/>
            <a:ext cx="2213335" cy="1800000"/>
          </a:xfrm>
          <a:prstGeom prst="rect">
            <a:avLst/>
          </a:prstGeom>
          <a:noFill/>
        </p:spPr>
      </p:pic>
      <p:pic>
        <p:nvPicPr>
          <p:cNvPr id="21" name="תמונה 20">
            <a:extLst>
              <a:ext uri="{FF2B5EF4-FFF2-40B4-BE49-F238E27FC236}">
                <a16:creationId xmlns:a16="http://schemas.microsoft.com/office/drawing/2014/main" id="{2808B75F-1FC7-6A76-045D-5AD71EC8A4C7}"/>
              </a:ext>
            </a:extLst>
          </p:cNvPr>
          <p:cNvPicPr>
            <a:picLocks noChangeAspect="1"/>
          </p:cNvPicPr>
          <p:nvPr/>
        </p:nvPicPr>
        <p:blipFill>
          <a:blip r:embed="rId7">
            <a:clrChange>
              <a:clrFrom>
                <a:srgbClr val="1E2D38"/>
              </a:clrFrom>
              <a:clrTo>
                <a:srgbClr val="1E2D38">
                  <a:alpha val="0"/>
                </a:srgbClr>
              </a:clrTo>
            </a:clrChange>
          </a:blip>
          <a:stretch>
            <a:fillRect/>
          </a:stretch>
        </p:blipFill>
        <p:spPr>
          <a:xfrm>
            <a:off x="8744288" y="1189399"/>
            <a:ext cx="2160000" cy="1820378"/>
          </a:xfrm>
          <a:prstGeom prst="rect">
            <a:avLst/>
          </a:prstGeom>
        </p:spPr>
      </p:pic>
      <p:pic>
        <p:nvPicPr>
          <p:cNvPr id="25" name="תמונה 24">
            <a:extLst>
              <a:ext uri="{FF2B5EF4-FFF2-40B4-BE49-F238E27FC236}">
                <a16:creationId xmlns:a16="http://schemas.microsoft.com/office/drawing/2014/main" id="{CCEF5C84-E214-51B6-1BC9-80A4EB27ECD5}"/>
              </a:ext>
            </a:extLst>
          </p:cNvPr>
          <p:cNvPicPr>
            <a:picLocks noChangeAspect="1"/>
          </p:cNvPicPr>
          <p:nvPr/>
        </p:nvPicPr>
        <p:blipFill>
          <a:blip r:embed="rId8">
            <a:clrChange>
              <a:clrFrom>
                <a:srgbClr val="1E2C37"/>
              </a:clrFrom>
              <a:clrTo>
                <a:srgbClr val="1E2C37">
                  <a:alpha val="0"/>
                </a:srgbClr>
              </a:clrTo>
            </a:clrChange>
          </a:blip>
          <a:stretch>
            <a:fillRect/>
          </a:stretch>
        </p:blipFill>
        <p:spPr>
          <a:xfrm>
            <a:off x="8744288" y="3827215"/>
            <a:ext cx="2160000" cy="1794929"/>
          </a:xfrm>
          <a:prstGeom prst="rect">
            <a:avLst/>
          </a:prstGeom>
        </p:spPr>
      </p:pic>
    </p:spTree>
    <p:extLst>
      <p:ext uri="{BB962C8B-B14F-4D97-AF65-F5344CB8AC3E}">
        <p14:creationId xmlns:p14="http://schemas.microsoft.com/office/powerpoint/2010/main" val="1849821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4A3B4723-526E-6B5D-554F-F5415A66D034}"/>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85A89D9B-C8D8-801F-0ED9-F7DF6A19279D}"/>
              </a:ext>
            </a:extLst>
          </p:cNvPr>
          <p:cNvSpPr txBox="1"/>
          <p:nvPr/>
        </p:nvSpPr>
        <p:spPr>
          <a:xfrm>
            <a:off x="3699546" y="173736"/>
            <a:ext cx="4517136" cy="584775"/>
          </a:xfrm>
          <a:prstGeom prst="rect">
            <a:avLst/>
          </a:prstGeom>
          <a:noFill/>
        </p:spPr>
        <p:txBody>
          <a:bodyPr wrap="square" rtlCol="1">
            <a:spAutoFit/>
          </a:bodyPr>
          <a:lstStyle>
            <a:defPPr>
              <a:defRPr lang="he-IL"/>
            </a:defPPr>
            <a:lvl1pPr marR="0" lvl="0" indent="0" algn="ctr" fontAlgn="auto">
              <a:lnSpc>
                <a:spcPct val="100000"/>
              </a:lnSpc>
              <a:spcBef>
                <a:spcPts val="0"/>
              </a:spcBef>
              <a:spcAft>
                <a:spcPts val="0"/>
              </a:spcAft>
              <a:buClrTx/>
              <a:buSzTx/>
              <a:buFontTx/>
              <a:buNone/>
              <a:tabLst/>
              <a:defRPr kumimoji="0" sz="3200" b="1" i="0" u="none" strike="noStrike" cap="none" spc="0" normalizeH="0" baseline="0">
                <a:ln>
                  <a:noFill/>
                </a:ln>
                <a:solidFill>
                  <a:prstClr val="white"/>
                </a:solidFill>
                <a:effectLst/>
                <a:uLnTx/>
                <a:uFillTx/>
                <a:latin typeface="Berlin Sans FB Demi" panose="020E0802020502020306" pitchFamily="34" charset="0"/>
              </a:defRPr>
            </a:lvl1pPr>
          </a:lstStyle>
          <a:p>
            <a:r>
              <a:rPr lang="en-US" dirty="0"/>
              <a:t>Cons &amp; Limitations</a:t>
            </a:r>
            <a:endParaRPr lang="he-IL" dirty="0"/>
          </a:p>
        </p:txBody>
      </p:sp>
      <p:pic>
        <p:nvPicPr>
          <p:cNvPr id="13" name="תמונה 12">
            <a:extLst>
              <a:ext uri="{FF2B5EF4-FFF2-40B4-BE49-F238E27FC236}">
                <a16:creationId xmlns:a16="http://schemas.microsoft.com/office/drawing/2014/main" id="{64131D3D-5E8A-1527-0080-5F1A6DBC29E6}"/>
              </a:ext>
            </a:extLst>
          </p:cNvPr>
          <p:cNvPicPr>
            <a:picLocks noChangeAspect="1"/>
          </p:cNvPicPr>
          <p:nvPr/>
        </p:nvPicPr>
        <p:blipFill>
          <a:blip r:embed="rId3"/>
          <a:stretch>
            <a:fillRect/>
          </a:stretch>
        </p:blipFill>
        <p:spPr>
          <a:xfrm>
            <a:off x="1366058" y="1186120"/>
            <a:ext cx="2691580" cy="2211241"/>
          </a:xfrm>
          <a:prstGeom prst="rect">
            <a:avLst/>
          </a:prstGeom>
        </p:spPr>
      </p:pic>
      <p:pic>
        <p:nvPicPr>
          <p:cNvPr id="15" name="תמונה 14">
            <a:extLst>
              <a:ext uri="{FF2B5EF4-FFF2-40B4-BE49-F238E27FC236}">
                <a16:creationId xmlns:a16="http://schemas.microsoft.com/office/drawing/2014/main" id="{F9907546-17DE-65D4-78F6-545D8877D740}"/>
              </a:ext>
            </a:extLst>
          </p:cNvPr>
          <p:cNvPicPr>
            <a:picLocks noChangeAspect="1"/>
          </p:cNvPicPr>
          <p:nvPr/>
        </p:nvPicPr>
        <p:blipFill>
          <a:blip r:embed="rId4"/>
          <a:stretch>
            <a:fillRect/>
          </a:stretch>
        </p:blipFill>
        <p:spPr>
          <a:xfrm>
            <a:off x="1350211" y="3824970"/>
            <a:ext cx="2691580" cy="2211241"/>
          </a:xfrm>
          <a:prstGeom prst="rect">
            <a:avLst/>
          </a:prstGeom>
        </p:spPr>
      </p:pic>
      <p:pic>
        <p:nvPicPr>
          <p:cNvPr id="18" name="תמונה 17">
            <a:extLst>
              <a:ext uri="{FF2B5EF4-FFF2-40B4-BE49-F238E27FC236}">
                <a16:creationId xmlns:a16="http://schemas.microsoft.com/office/drawing/2014/main" id="{33993141-A513-969D-17BD-3BFB7D02FBBB}"/>
              </a:ext>
            </a:extLst>
          </p:cNvPr>
          <p:cNvPicPr>
            <a:picLocks noChangeAspect="1"/>
          </p:cNvPicPr>
          <p:nvPr/>
        </p:nvPicPr>
        <p:blipFill>
          <a:blip r:embed="rId5"/>
          <a:stretch>
            <a:fillRect/>
          </a:stretch>
        </p:blipFill>
        <p:spPr>
          <a:xfrm>
            <a:off x="8216682" y="1154151"/>
            <a:ext cx="2797190" cy="2202874"/>
          </a:xfrm>
          <a:prstGeom prst="rect">
            <a:avLst/>
          </a:prstGeom>
        </p:spPr>
      </p:pic>
      <p:pic>
        <p:nvPicPr>
          <p:cNvPr id="22" name="תמונה 21">
            <a:extLst>
              <a:ext uri="{FF2B5EF4-FFF2-40B4-BE49-F238E27FC236}">
                <a16:creationId xmlns:a16="http://schemas.microsoft.com/office/drawing/2014/main" id="{00FF1503-BD8C-5507-D1C7-5A1ECD5BC974}"/>
              </a:ext>
            </a:extLst>
          </p:cNvPr>
          <p:cNvPicPr>
            <a:picLocks noChangeAspect="1"/>
          </p:cNvPicPr>
          <p:nvPr/>
        </p:nvPicPr>
        <p:blipFill>
          <a:blip r:embed="rId6"/>
          <a:stretch>
            <a:fillRect/>
          </a:stretch>
        </p:blipFill>
        <p:spPr>
          <a:xfrm>
            <a:off x="8328010" y="3824970"/>
            <a:ext cx="2797190" cy="2228555"/>
          </a:xfrm>
          <a:prstGeom prst="rect">
            <a:avLst/>
          </a:prstGeom>
        </p:spPr>
      </p:pic>
      <p:pic>
        <p:nvPicPr>
          <p:cNvPr id="24" name="תמונה 23">
            <a:extLst>
              <a:ext uri="{FF2B5EF4-FFF2-40B4-BE49-F238E27FC236}">
                <a16:creationId xmlns:a16="http://schemas.microsoft.com/office/drawing/2014/main" id="{20A527BA-37D5-E2CA-4028-ECCCE35EDCBB}"/>
              </a:ext>
            </a:extLst>
          </p:cNvPr>
          <p:cNvPicPr>
            <a:picLocks noChangeAspect="1"/>
          </p:cNvPicPr>
          <p:nvPr/>
        </p:nvPicPr>
        <p:blipFill>
          <a:blip r:embed="rId7"/>
          <a:stretch>
            <a:fillRect/>
          </a:stretch>
        </p:blipFill>
        <p:spPr>
          <a:xfrm>
            <a:off x="4791702" y="2118853"/>
            <a:ext cx="2690916" cy="2211242"/>
          </a:xfrm>
          <a:prstGeom prst="rect">
            <a:avLst/>
          </a:prstGeom>
        </p:spPr>
      </p:pic>
    </p:spTree>
    <p:extLst>
      <p:ext uri="{BB962C8B-B14F-4D97-AF65-F5344CB8AC3E}">
        <p14:creationId xmlns:p14="http://schemas.microsoft.com/office/powerpoint/2010/main" val="3251030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2DC7A99A-128C-C57A-71DB-25103C466A16}"/>
              </a:ext>
            </a:extLst>
          </p:cNvPr>
          <p:cNvSpPr txBox="1"/>
          <p:nvPr/>
        </p:nvSpPr>
        <p:spPr>
          <a:xfrm>
            <a:off x="2713298" y="163357"/>
            <a:ext cx="6373368" cy="584775"/>
          </a:xfrm>
          <a:prstGeom prst="rect">
            <a:avLst/>
          </a:prstGeom>
          <a:noFill/>
        </p:spPr>
        <p:txBody>
          <a:bodyPr wrap="square" rtlCol="1">
            <a:spAutoFit/>
          </a:bodyPr>
          <a:lstStyle/>
          <a:p>
            <a:pPr algn="ct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Chocolatey Community</a:t>
            </a:r>
            <a:endParaRPr lang="he-IL" sz="3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nvGrpSpPr>
          <p:cNvPr id="16" name="קבוצה 15">
            <a:extLst>
              <a:ext uri="{FF2B5EF4-FFF2-40B4-BE49-F238E27FC236}">
                <a16:creationId xmlns:a16="http://schemas.microsoft.com/office/drawing/2014/main" id="{FD6CB985-AD1E-C82C-4A4F-2F6358B7B163}"/>
              </a:ext>
            </a:extLst>
          </p:cNvPr>
          <p:cNvGrpSpPr/>
          <p:nvPr/>
        </p:nvGrpSpPr>
        <p:grpSpPr>
          <a:xfrm>
            <a:off x="-367067" y="1992003"/>
            <a:ext cx="10567085" cy="2295094"/>
            <a:chOff x="282323" y="1661366"/>
            <a:chExt cx="10567085" cy="2295094"/>
          </a:xfrm>
        </p:grpSpPr>
        <p:sp>
          <p:nvSpPr>
            <p:cNvPr id="7" name="מלבן: פינות מעוגלות 6">
              <a:extLst>
                <a:ext uri="{FF2B5EF4-FFF2-40B4-BE49-F238E27FC236}">
                  <a16:creationId xmlns:a16="http://schemas.microsoft.com/office/drawing/2014/main" id="{5A154AB2-CDB1-52D7-0ED5-F9D090E90FE5}"/>
                </a:ext>
              </a:extLst>
            </p:cNvPr>
            <p:cNvSpPr/>
            <p:nvPr/>
          </p:nvSpPr>
          <p:spPr>
            <a:xfrm>
              <a:off x="1975104" y="1661366"/>
              <a:ext cx="8522208" cy="19639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8" name="Picture 6" descr="Shipping Large Boxes - Best Way to Ship Large Packages">
              <a:extLst>
                <a:ext uri="{FF2B5EF4-FFF2-40B4-BE49-F238E27FC236}">
                  <a16:creationId xmlns:a16="http://schemas.microsoft.com/office/drawing/2014/main" id="{30C99876-6EDC-F474-DC50-63FBD35543A7}"/>
                </a:ext>
              </a:extLst>
            </p:cNvPr>
            <p:cNvPicPr>
              <a:picLocks noChangeAspect="1" noChangeArrowheads="1"/>
            </p:cNvPicPr>
            <p:nvPr/>
          </p:nvPicPr>
          <p:blipFill rotWithShape="1">
            <a:blip r:embed="rId2">
              <a:clrChange>
                <a:clrFrom>
                  <a:srgbClr val="246580"/>
                </a:clrFrom>
                <a:clrTo>
                  <a:srgbClr val="246580">
                    <a:alpha val="0"/>
                  </a:srgbClr>
                </a:clrTo>
              </a:clrChange>
              <a:extLst>
                <a:ext uri="{28A0092B-C50C-407E-A947-70E740481C1C}">
                  <a14:useLocalDpi xmlns:a14="http://schemas.microsoft.com/office/drawing/2010/main" val="0"/>
                </a:ext>
              </a:extLst>
            </a:blip>
            <a:srcRect l="7962" t="2561" r="5325" b="1599"/>
            <a:stretch>
              <a:fillRect/>
            </a:stretch>
          </p:blipFill>
          <p:spPr bwMode="auto">
            <a:xfrm>
              <a:off x="282323" y="2140657"/>
              <a:ext cx="2915412" cy="1815803"/>
            </a:xfrm>
            <a:prstGeom prst="rect">
              <a:avLst/>
            </a:prstGeom>
            <a:noFill/>
            <a:extLst>
              <a:ext uri="{909E8E84-426E-40DD-AFC4-6F175D3DCCD1}">
                <a14:hiddenFill xmlns:a14="http://schemas.microsoft.com/office/drawing/2010/main">
                  <a:solidFill>
                    <a:srgbClr val="FFFFFF"/>
                  </a:solidFill>
                </a14:hiddenFill>
              </a:ext>
            </a:extLst>
          </p:spPr>
        </p:pic>
        <p:sp>
          <p:nvSpPr>
            <p:cNvPr id="9" name="תיבת טקסט 8">
              <a:extLst>
                <a:ext uri="{FF2B5EF4-FFF2-40B4-BE49-F238E27FC236}">
                  <a16:creationId xmlns:a16="http://schemas.microsoft.com/office/drawing/2014/main" id="{5CDA8E8E-6F54-0258-0935-FE4F3D1F0829}"/>
                </a:ext>
              </a:extLst>
            </p:cNvPr>
            <p:cNvSpPr txBox="1"/>
            <p:nvPr/>
          </p:nvSpPr>
          <p:spPr>
            <a:xfrm>
              <a:off x="2602992" y="1751830"/>
              <a:ext cx="1850136" cy="461665"/>
            </a:xfrm>
            <a:prstGeom prst="rect">
              <a:avLst/>
            </a:prstGeom>
            <a:noFill/>
          </p:spPr>
          <p:txBody>
            <a:bodyPr wrap="square" rtlCol="1">
              <a:spAutoFit/>
            </a:bodyPr>
            <a:lstStyle/>
            <a:p>
              <a:pPr algn="l" rtl="0"/>
              <a:r>
                <a:rPr lang="en-US" sz="2400" b="1" u="sng" dirty="0"/>
                <a:t>Packages</a:t>
              </a:r>
              <a:endParaRPr lang="he-IL" sz="2400" b="1" u="sng" dirty="0"/>
            </a:p>
          </p:txBody>
        </p:sp>
        <p:sp>
          <p:nvSpPr>
            <p:cNvPr id="10" name="תיבת טקסט 9">
              <a:extLst>
                <a:ext uri="{FF2B5EF4-FFF2-40B4-BE49-F238E27FC236}">
                  <a16:creationId xmlns:a16="http://schemas.microsoft.com/office/drawing/2014/main" id="{A6710144-B6D2-DC80-D27E-5C1A6656869B}"/>
                </a:ext>
              </a:extLst>
            </p:cNvPr>
            <p:cNvSpPr txBox="1"/>
            <p:nvPr/>
          </p:nvSpPr>
          <p:spPr>
            <a:xfrm>
              <a:off x="2602992" y="2165432"/>
              <a:ext cx="8246416" cy="1050352"/>
            </a:xfrm>
            <a:prstGeom prst="rect">
              <a:avLst/>
            </a:prstGeom>
            <a:noFill/>
          </p:spPr>
          <p:txBody>
            <a:bodyPr wrap="square" rtlCol="1">
              <a:spAutoFit/>
            </a:bodyPr>
            <a:lstStyle/>
            <a:p>
              <a:pPr marL="285750" indent="-285750" algn="l" rtl="0">
                <a:lnSpc>
                  <a:spcPct val="150000"/>
                </a:lnSpc>
                <a:buFont typeface="Arial" panose="020B0604020202020204" pitchFamily="34" charset="0"/>
                <a:buChar char="•"/>
              </a:pPr>
              <a:r>
                <a:rPr lang="en-US" sz="2200" dirty="0"/>
                <a:t>Scripts that </a:t>
              </a:r>
              <a:r>
                <a:rPr lang="en-US" sz="2200" b="1" dirty="0"/>
                <a:t>automate</a:t>
              </a:r>
              <a:r>
                <a:rPr lang="en-US" sz="2200" dirty="0"/>
                <a:t> software installation on Windows</a:t>
              </a:r>
            </a:p>
            <a:p>
              <a:pPr marL="285750" indent="-285750" algn="l" rtl="0">
                <a:lnSpc>
                  <a:spcPct val="150000"/>
                </a:lnSpc>
                <a:buFont typeface="Arial" panose="020B0604020202020204" pitchFamily="34" charset="0"/>
                <a:buChar char="•"/>
              </a:pPr>
              <a:r>
                <a:rPr lang="en-US" sz="2200" dirty="0"/>
                <a:t>Define download source, </a:t>
              </a:r>
              <a:r>
                <a:rPr lang="en-US" sz="2200" b="1" dirty="0"/>
                <a:t>installation</a:t>
              </a:r>
              <a:r>
                <a:rPr lang="en-US" sz="2200" dirty="0"/>
                <a:t> steps, and updates</a:t>
              </a:r>
              <a:endParaRPr lang="he-IL" sz="2200" dirty="0"/>
            </a:p>
          </p:txBody>
        </p:sp>
      </p:grpSp>
      <p:grpSp>
        <p:nvGrpSpPr>
          <p:cNvPr id="17" name="קבוצה 16">
            <a:extLst>
              <a:ext uri="{FF2B5EF4-FFF2-40B4-BE49-F238E27FC236}">
                <a16:creationId xmlns:a16="http://schemas.microsoft.com/office/drawing/2014/main" id="{CEBC3E4A-9ECA-B29E-7843-6A3D9F7CFA1C}"/>
              </a:ext>
            </a:extLst>
          </p:cNvPr>
          <p:cNvGrpSpPr/>
          <p:nvPr/>
        </p:nvGrpSpPr>
        <p:grpSpPr>
          <a:xfrm>
            <a:off x="770730" y="4152706"/>
            <a:ext cx="11254936" cy="2502030"/>
            <a:chOff x="400616" y="3794761"/>
            <a:chExt cx="11254936" cy="2502030"/>
          </a:xfrm>
        </p:grpSpPr>
        <p:sp>
          <p:nvSpPr>
            <p:cNvPr id="8" name="מלבן: פינות מעוגלות 7">
              <a:extLst>
                <a:ext uri="{FF2B5EF4-FFF2-40B4-BE49-F238E27FC236}">
                  <a16:creationId xmlns:a16="http://schemas.microsoft.com/office/drawing/2014/main" id="{05D1EAF5-63CE-7809-A426-A071A2C36C91}"/>
                </a:ext>
              </a:extLst>
            </p:cNvPr>
            <p:cNvSpPr/>
            <p:nvPr/>
          </p:nvSpPr>
          <p:spPr>
            <a:xfrm>
              <a:off x="3133344" y="4011750"/>
              <a:ext cx="8522208" cy="21041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80" name="Picture 8">
              <a:extLst>
                <a:ext uri="{FF2B5EF4-FFF2-40B4-BE49-F238E27FC236}">
                  <a16:creationId xmlns:a16="http://schemas.microsoft.com/office/drawing/2014/main" id="{8CCB7AC8-E13C-4DC7-AA57-C61567CD786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0616" y="3794761"/>
              <a:ext cx="3767524" cy="2502030"/>
            </a:xfrm>
            <a:prstGeom prst="rect">
              <a:avLst/>
            </a:prstGeom>
            <a:noFill/>
            <a:extLst>
              <a:ext uri="{909E8E84-426E-40DD-AFC4-6F175D3DCCD1}">
                <a14:hiddenFill xmlns:a14="http://schemas.microsoft.com/office/drawing/2010/main">
                  <a:solidFill>
                    <a:srgbClr val="FFFFFF"/>
                  </a:solidFill>
                </a14:hiddenFill>
              </a:ext>
            </a:extLst>
          </p:spPr>
        </p:pic>
        <p:sp>
          <p:nvSpPr>
            <p:cNvPr id="12" name="תיבת טקסט 11">
              <a:extLst>
                <a:ext uri="{FF2B5EF4-FFF2-40B4-BE49-F238E27FC236}">
                  <a16:creationId xmlns:a16="http://schemas.microsoft.com/office/drawing/2014/main" id="{7C430399-575B-7BF0-7054-B29E0CCAA6A4}"/>
                </a:ext>
              </a:extLst>
            </p:cNvPr>
            <p:cNvSpPr txBox="1"/>
            <p:nvPr/>
          </p:nvSpPr>
          <p:spPr>
            <a:xfrm>
              <a:off x="4286433" y="4119531"/>
              <a:ext cx="1613549" cy="461665"/>
            </a:xfrm>
            <a:prstGeom prst="rect">
              <a:avLst/>
            </a:prstGeom>
            <a:noFill/>
          </p:spPr>
          <p:txBody>
            <a:bodyPr wrap="square" rtlCol="1">
              <a:spAutoFit/>
            </a:bodyPr>
            <a:lstStyle/>
            <a:p>
              <a:pPr algn="l" rtl="0"/>
              <a:r>
                <a:rPr lang="en-US" sz="2400" b="1" u="sng" dirty="0"/>
                <a:t>People</a:t>
              </a:r>
              <a:endParaRPr lang="he-IL" sz="2400" b="1" u="sng" dirty="0"/>
            </a:p>
          </p:txBody>
        </p:sp>
        <p:sp>
          <p:nvSpPr>
            <p:cNvPr id="13" name="תיבת טקסט 12">
              <a:extLst>
                <a:ext uri="{FF2B5EF4-FFF2-40B4-BE49-F238E27FC236}">
                  <a16:creationId xmlns:a16="http://schemas.microsoft.com/office/drawing/2014/main" id="{AC7C1D2B-D98B-C1F4-4F70-20FCB200FEBB}"/>
                </a:ext>
              </a:extLst>
            </p:cNvPr>
            <p:cNvSpPr txBox="1"/>
            <p:nvPr/>
          </p:nvSpPr>
          <p:spPr>
            <a:xfrm>
              <a:off x="4286432" y="4488863"/>
              <a:ext cx="7369119" cy="1558183"/>
            </a:xfrm>
            <a:prstGeom prst="rect">
              <a:avLst/>
            </a:prstGeom>
            <a:noFill/>
          </p:spPr>
          <p:txBody>
            <a:bodyPr wrap="square" rtlCol="1">
              <a:spAutoFit/>
            </a:bodyPr>
            <a:lstStyle/>
            <a:p>
              <a:pPr marL="285750" indent="-285750" algn="l" rtl="0">
                <a:lnSpc>
                  <a:spcPct val="150000"/>
                </a:lnSpc>
                <a:buFont typeface="Arial" panose="020B0604020202020204" pitchFamily="34" charset="0"/>
                <a:buChar char="•"/>
              </a:pPr>
              <a:r>
                <a:rPr lang="en-US" sz="2200" dirty="0"/>
                <a:t>Community members </a:t>
              </a:r>
              <a:r>
                <a:rPr lang="en-US" sz="2200" b="1" dirty="0"/>
                <a:t>maintain</a:t>
              </a:r>
              <a:r>
                <a:rPr lang="en-US" sz="2200" dirty="0"/>
                <a:t> packages, fix issues, and help users</a:t>
              </a:r>
            </a:p>
            <a:p>
              <a:pPr marL="285750" indent="-285750" algn="l" rtl="0">
                <a:lnSpc>
                  <a:spcPct val="150000"/>
                </a:lnSpc>
                <a:buFont typeface="Arial" panose="020B0604020202020204" pitchFamily="34" charset="0"/>
                <a:buChar char="•"/>
              </a:pPr>
              <a:r>
                <a:rPr lang="en-US" sz="2200" dirty="0"/>
                <a:t>Most contributions are </a:t>
              </a:r>
              <a:r>
                <a:rPr lang="en-US" sz="2200" b="1" dirty="0"/>
                <a:t>voluntary</a:t>
              </a:r>
              <a:endParaRPr lang="he-IL" sz="2200" b="1" dirty="0"/>
            </a:p>
          </p:txBody>
        </p:sp>
      </p:grpSp>
      <p:sp>
        <p:nvSpPr>
          <p:cNvPr id="14" name="תיבת טקסט 13">
            <a:extLst>
              <a:ext uri="{FF2B5EF4-FFF2-40B4-BE49-F238E27FC236}">
                <a16:creationId xmlns:a16="http://schemas.microsoft.com/office/drawing/2014/main" id="{65334B10-B95D-A16D-BA0D-F407935697DF}"/>
              </a:ext>
            </a:extLst>
          </p:cNvPr>
          <p:cNvSpPr txBox="1"/>
          <p:nvPr/>
        </p:nvSpPr>
        <p:spPr>
          <a:xfrm>
            <a:off x="0" y="626234"/>
            <a:ext cx="11734800" cy="1135054"/>
          </a:xfrm>
          <a:prstGeom prst="rect">
            <a:avLst/>
          </a:prstGeom>
          <a:noFill/>
        </p:spPr>
        <p:txBody>
          <a:bodyPr wrap="square" rtlCol="1">
            <a:spAutoFit/>
          </a:bodyPr>
          <a:lstStyle/>
          <a:p>
            <a:pPr marL="285750" indent="-285750" algn="l" rtl="0">
              <a:lnSpc>
                <a:spcPct val="150000"/>
              </a:lnSpc>
              <a:buFont typeface="Arial" panose="020B0604020202020204" pitchFamily="34" charset="0"/>
              <a:buChar char="•"/>
            </a:pPr>
            <a:r>
              <a:rPr lang="en-US" sz="2400" dirty="0">
                <a:solidFill>
                  <a:schemeClr val="bg1"/>
                </a:solidFill>
              </a:rPr>
              <a:t>The Chocolatey community is composed of packages and the people who maintain them.</a:t>
            </a:r>
            <a:endParaRPr lang="he-IL" sz="2400" dirty="0">
              <a:solidFill>
                <a:schemeClr val="bg1"/>
              </a:solidFill>
            </a:endParaRPr>
          </a:p>
        </p:txBody>
      </p:sp>
    </p:spTree>
    <p:extLst>
      <p:ext uri="{BB962C8B-B14F-4D97-AF65-F5344CB8AC3E}">
        <p14:creationId xmlns:p14="http://schemas.microsoft.com/office/powerpoint/2010/main" val="437253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F4EBFE9C-433D-C46C-0855-D55603FDE5FF}"/>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671E380F-B0CF-0779-ADA9-142F892F4699}"/>
              </a:ext>
            </a:extLst>
          </p:cNvPr>
          <p:cNvSpPr txBox="1"/>
          <p:nvPr/>
        </p:nvSpPr>
        <p:spPr>
          <a:xfrm>
            <a:off x="2920200" y="151964"/>
            <a:ext cx="6046797" cy="1077218"/>
          </a:xfrm>
          <a:prstGeom prst="rect">
            <a:avLst/>
          </a:prstGeom>
          <a:noFill/>
        </p:spPr>
        <p:txBody>
          <a:bodyPr wrap="square" rtlCol="1">
            <a:spAutoFit/>
          </a:bodyPr>
          <a:lstStyle/>
          <a:p>
            <a:pPr algn="ct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Chocolatey Community Packages Overview</a:t>
            </a:r>
            <a:endParaRPr lang="he-IL" sz="3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5122" name="Picture 2" descr="Chocolatey Software | Installing Chocolatey">
            <a:hlinkClick r:id="rId3"/>
            <a:extLst>
              <a:ext uri="{FF2B5EF4-FFF2-40B4-BE49-F238E27FC236}">
                <a16:creationId xmlns:a16="http://schemas.microsoft.com/office/drawing/2014/main" id="{89864FCA-3B10-BDC1-1F4C-C8629264A6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2812" y="1734898"/>
            <a:ext cx="4981575" cy="3388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025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202F3C"/>
        </a:solidFill>
        <a:effectLst/>
      </p:bgPr>
    </p:bg>
    <p:spTree>
      <p:nvGrpSpPr>
        <p:cNvPr id="1" name="">
          <a:extLst>
            <a:ext uri="{FF2B5EF4-FFF2-40B4-BE49-F238E27FC236}">
              <a16:creationId xmlns:a16="http://schemas.microsoft.com/office/drawing/2014/main" id="{B02067CC-8F3D-0A07-69C1-EB94398F9A21}"/>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5312978E-B0EB-57F1-22BC-D48AD892A287}"/>
              </a:ext>
            </a:extLst>
          </p:cNvPr>
          <p:cNvSpPr txBox="1"/>
          <p:nvPr/>
        </p:nvSpPr>
        <p:spPr>
          <a:xfrm>
            <a:off x="3685032" y="173736"/>
            <a:ext cx="4517136" cy="954107"/>
          </a:xfrm>
          <a:prstGeom prst="rect">
            <a:avLst/>
          </a:prstGeom>
          <a:noFill/>
        </p:spPr>
        <p:txBody>
          <a:bodyPr wrap="square" rtlCol="1">
            <a:spAutoFit/>
          </a:bodyPr>
          <a:lstStyle/>
          <a:p>
            <a:pPr algn="ctr"/>
            <a:r>
              <a:rPr lang="en-US" sz="2800" b="1" dirty="0">
                <a:solidFill>
                  <a:schemeClr val="bg1"/>
                </a:solidFill>
                <a:latin typeface="Tahoma" panose="020B0604030504040204" pitchFamily="34" charset="0"/>
                <a:ea typeface="Tahoma" panose="020B0604030504040204" pitchFamily="34" charset="0"/>
                <a:cs typeface="Tahoma" panose="020B0604030504040204" pitchFamily="34" charset="0"/>
              </a:rPr>
              <a:t>Chocolatey Community Packages Overview</a:t>
            </a:r>
            <a:endParaRPr lang="he-IL" sz="28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4" name="תמונה 3">
            <a:extLst>
              <a:ext uri="{FF2B5EF4-FFF2-40B4-BE49-F238E27FC236}">
                <a16:creationId xmlns:a16="http://schemas.microsoft.com/office/drawing/2014/main" id="{2011E4F9-798E-C162-6AEA-52FE5F8D4A70}"/>
              </a:ext>
            </a:extLst>
          </p:cNvPr>
          <p:cNvPicPr>
            <a:picLocks noChangeAspect="1"/>
          </p:cNvPicPr>
          <p:nvPr/>
        </p:nvPicPr>
        <p:blipFill>
          <a:blip r:embed="rId3"/>
          <a:stretch>
            <a:fillRect/>
          </a:stretch>
        </p:blipFill>
        <p:spPr>
          <a:xfrm>
            <a:off x="1181100" y="1291124"/>
            <a:ext cx="9829800" cy="4700472"/>
          </a:xfrm>
          <a:prstGeom prst="rect">
            <a:avLst/>
          </a:prstGeom>
        </p:spPr>
      </p:pic>
      <p:cxnSp>
        <p:nvCxnSpPr>
          <p:cNvPr id="6" name="מחבר חץ ישר 5">
            <a:extLst>
              <a:ext uri="{FF2B5EF4-FFF2-40B4-BE49-F238E27FC236}">
                <a16:creationId xmlns:a16="http://schemas.microsoft.com/office/drawing/2014/main" id="{66145E67-3105-5AF6-F15F-AF5F3E22E4E2}"/>
              </a:ext>
            </a:extLst>
          </p:cNvPr>
          <p:cNvCxnSpPr/>
          <p:nvPr/>
        </p:nvCxnSpPr>
        <p:spPr>
          <a:xfrm flipV="1">
            <a:off x="8385048" y="822960"/>
            <a:ext cx="1627632" cy="731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תיבת טקסט 6">
            <a:extLst>
              <a:ext uri="{FF2B5EF4-FFF2-40B4-BE49-F238E27FC236}">
                <a16:creationId xmlns:a16="http://schemas.microsoft.com/office/drawing/2014/main" id="{02D3D201-4FD5-672D-43B2-BA02CF77F4C2}"/>
              </a:ext>
            </a:extLst>
          </p:cNvPr>
          <p:cNvSpPr txBox="1"/>
          <p:nvPr/>
        </p:nvSpPr>
        <p:spPr>
          <a:xfrm>
            <a:off x="10296144" y="256032"/>
            <a:ext cx="1344168" cy="923330"/>
          </a:xfrm>
          <a:prstGeom prst="rect">
            <a:avLst/>
          </a:prstGeom>
          <a:noFill/>
        </p:spPr>
        <p:txBody>
          <a:bodyPr wrap="square" rtlCol="1">
            <a:spAutoFit/>
          </a:bodyPr>
          <a:lstStyle/>
          <a:p>
            <a:r>
              <a:rPr lang="he-IL" dirty="0"/>
              <a:t>שם האפליקציה+ גרסה</a:t>
            </a:r>
          </a:p>
        </p:txBody>
      </p:sp>
      <p:cxnSp>
        <p:nvCxnSpPr>
          <p:cNvPr id="9" name="מחבר חץ ישר 8">
            <a:extLst>
              <a:ext uri="{FF2B5EF4-FFF2-40B4-BE49-F238E27FC236}">
                <a16:creationId xmlns:a16="http://schemas.microsoft.com/office/drawing/2014/main" id="{55C6AC12-A2EE-82A0-0BD1-ECF7182E1F4F}"/>
              </a:ext>
            </a:extLst>
          </p:cNvPr>
          <p:cNvCxnSpPr/>
          <p:nvPr/>
        </p:nvCxnSpPr>
        <p:spPr>
          <a:xfrm flipH="1" flipV="1">
            <a:off x="2770632" y="694944"/>
            <a:ext cx="1335024" cy="1179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תיבת טקסט 9">
            <a:extLst>
              <a:ext uri="{FF2B5EF4-FFF2-40B4-BE49-F238E27FC236}">
                <a16:creationId xmlns:a16="http://schemas.microsoft.com/office/drawing/2014/main" id="{147E13F2-9A46-125E-38EC-ADC0008FDF26}"/>
              </a:ext>
            </a:extLst>
          </p:cNvPr>
          <p:cNvSpPr txBox="1"/>
          <p:nvPr/>
        </p:nvSpPr>
        <p:spPr>
          <a:xfrm>
            <a:off x="1267968" y="133712"/>
            <a:ext cx="1344168" cy="646331"/>
          </a:xfrm>
          <a:prstGeom prst="rect">
            <a:avLst/>
          </a:prstGeom>
          <a:noFill/>
        </p:spPr>
        <p:txBody>
          <a:bodyPr wrap="square" rtlCol="1">
            <a:spAutoFit/>
          </a:bodyPr>
          <a:lstStyle/>
          <a:p>
            <a:r>
              <a:rPr lang="he-IL" dirty="0"/>
              <a:t>הצהרה משפטית</a:t>
            </a:r>
          </a:p>
        </p:txBody>
      </p:sp>
      <p:sp>
        <p:nvSpPr>
          <p:cNvPr id="12" name="סוגר מסולסל ימני 11">
            <a:extLst>
              <a:ext uri="{FF2B5EF4-FFF2-40B4-BE49-F238E27FC236}">
                <a16:creationId xmlns:a16="http://schemas.microsoft.com/office/drawing/2014/main" id="{402A46AB-C581-CF1C-4E31-6A73FD503B4C}"/>
              </a:ext>
            </a:extLst>
          </p:cNvPr>
          <p:cNvSpPr/>
          <p:nvPr/>
        </p:nvSpPr>
        <p:spPr>
          <a:xfrm>
            <a:off x="10378440" y="1965960"/>
            <a:ext cx="356616" cy="1947672"/>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13" name="תיבת טקסט 12">
            <a:extLst>
              <a:ext uri="{FF2B5EF4-FFF2-40B4-BE49-F238E27FC236}">
                <a16:creationId xmlns:a16="http://schemas.microsoft.com/office/drawing/2014/main" id="{BB6986F4-04FE-980D-5FC6-6F998AE6D3EA}"/>
              </a:ext>
            </a:extLst>
          </p:cNvPr>
          <p:cNvSpPr txBox="1"/>
          <p:nvPr/>
        </p:nvSpPr>
        <p:spPr>
          <a:xfrm>
            <a:off x="10817352" y="2316391"/>
            <a:ext cx="1344168" cy="2862322"/>
          </a:xfrm>
          <a:prstGeom prst="rect">
            <a:avLst/>
          </a:prstGeom>
          <a:noFill/>
        </p:spPr>
        <p:txBody>
          <a:bodyPr wrap="square" rtlCol="1">
            <a:spAutoFit/>
          </a:bodyPr>
          <a:lstStyle/>
          <a:p>
            <a:r>
              <a:rPr lang="he-IL" dirty="0"/>
              <a:t>בדיקות מבנה ותקינות עברו, מקורות נבדקו, הקבצים גדולים מידי לסריקה ולכן היא הוחרגה</a:t>
            </a:r>
          </a:p>
        </p:txBody>
      </p:sp>
      <p:cxnSp>
        <p:nvCxnSpPr>
          <p:cNvPr id="15" name="מחבר חץ ישר 14">
            <a:extLst>
              <a:ext uri="{FF2B5EF4-FFF2-40B4-BE49-F238E27FC236}">
                <a16:creationId xmlns:a16="http://schemas.microsoft.com/office/drawing/2014/main" id="{38380C89-47C3-94FA-45F1-607D432B9549}"/>
              </a:ext>
            </a:extLst>
          </p:cNvPr>
          <p:cNvCxnSpPr/>
          <p:nvPr/>
        </p:nvCxnSpPr>
        <p:spPr>
          <a:xfrm flipH="1" flipV="1">
            <a:off x="896112" y="1554480"/>
            <a:ext cx="704088" cy="102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תיבת טקסט 15">
            <a:extLst>
              <a:ext uri="{FF2B5EF4-FFF2-40B4-BE49-F238E27FC236}">
                <a16:creationId xmlns:a16="http://schemas.microsoft.com/office/drawing/2014/main" id="{71892089-E6F4-19D2-9C3F-3D0C9994ACC8}"/>
              </a:ext>
            </a:extLst>
          </p:cNvPr>
          <p:cNvSpPr txBox="1"/>
          <p:nvPr/>
        </p:nvSpPr>
        <p:spPr>
          <a:xfrm>
            <a:off x="-167640" y="573919"/>
            <a:ext cx="1344168" cy="923330"/>
          </a:xfrm>
          <a:prstGeom prst="rect">
            <a:avLst/>
          </a:prstGeom>
          <a:noFill/>
        </p:spPr>
        <p:txBody>
          <a:bodyPr wrap="square" rtlCol="1">
            <a:spAutoFit/>
          </a:bodyPr>
          <a:lstStyle/>
          <a:p>
            <a:r>
              <a:rPr lang="he-IL" dirty="0"/>
              <a:t>מספר ההורדות הכולל</a:t>
            </a:r>
          </a:p>
        </p:txBody>
      </p:sp>
      <p:cxnSp>
        <p:nvCxnSpPr>
          <p:cNvPr id="18" name="מחבר חץ ישר 17">
            <a:extLst>
              <a:ext uri="{FF2B5EF4-FFF2-40B4-BE49-F238E27FC236}">
                <a16:creationId xmlns:a16="http://schemas.microsoft.com/office/drawing/2014/main" id="{13064DFB-D066-6DA9-0B1A-CAD076400703}"/>
              </a:ext>
            </a:extLst>
          </p:cNvPr>
          <p:cNvCxnSpPr/>
          <p:nvPr/>
        </p:nvCxnSpPr>
        <p:spPr>
          <a:xfrm flipH="1" flipV="1">
            <a:off x="1097280" y="2697480"/>
            <a:ext cx="502920" cy="356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תיבת טקסט 18">
            <a:extLst>
              <a:ext uri="{FF2B5EF4-FFF2-40B4-BE49-F238E27FC236}">
                <a16:creationId xmlns:a16="http://schemas.microsoft.com/office/drawing/2014/main" id="{A53AC97C-4634-1223-3CF7-508DE928AC79}"/>
              </a:ext>
            </a:extLst>
          </p:cNvPr>
          <p:cNvSpPr txBox="1"/>
          <p:nvPr/>
        </p:nvSpPr>
        <p:spPr>
          <a:xfrm>
            <a:off x="-288798" y="2016466"/>
            <a:ext cx="1344168" cy="923330"/>
          </a:xfrm>
          <a:prstGeom prst="rect">
            <a:avLst/>
          </a:prstGeom>
          <a:noFill/>
        </p:spPr>
        <p:txBody>
          <a:bodyPr wrap="square" rtlCol="1">
            <a:spAutoFit/>
          </a:bodyPr>
          <a:lstStyle/>
          <a:p>
            <a:r>
              <a:rPr lang="he-IL" dirty="0"/>
              <a:t>מספר ההורדות לגרסה</a:t>
            </a:r>
          </a:p>
        </p:txBody>
      </p:sp>
      <p:cxnSp>
        <p:nvCxnSpPr>
          <p:cNvPr id="20" name="מחבר חץ ישר 19">
            <a:extLst>
              <a:ext uri="{FF2B5EF4-FFF2-40B4-BE49-F238E27FC236}">
                <a16:creationId xmlns:a16="http://schemas.microsoft.com/office/drawing/2014/main" id="{BDE16791-8E80-39C3-0E66-7B27767E4A98}"/>
              </a:ext>
            </a:extLst>
          </p:cNvPr>
          <p:cNvCxnSpPr/>
          <p:nvPr/>
        </p:nvCxnSpPr>
        <p:spPr>
          <a:xfrm flipH="1" flipV="1">
            <a:off x="1097280" y="3217377"/>
            <a:ext cx="502920" cy="356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תיבת טקסט 20">
            <a:extLst>
              <a:ext uri="{FF2B5EF4-FFF2-40B4-BE49-F238E27FC236}">
                <a16:creationId xmlns:a16="http://schemas.microsoft.com/office/drawing/2014/main" id="{E58633E1-EA9F-FE80-40B5-C563A196642F}"/>
              </a:ext>
            </a:extLst>
          </p:cNvPr>
          <p:cNvSpPr txBox="1"/>
          <p:nvPr/>
        </p:nvSpPr>
        <p:spPr>
          <a:xfrm>
            <a:off x="-246888" y="2948940"/>
            <a:ext cx="1344168" cy="369332"/>
          </a:xfrm>
          <a:prstGeom prst="rect">
            <a:avLst/>
          </a:prstGeom>
          <a:noFill/>
        </p:spPr>
        <p:txBody>
          <a:bodyPr wrap="square" rtlCol="1">
            <a:spAutoFit/>
          </a:bodyPr>
          <a:lstStyle/>
          <a:p>
            <a:r>
              <a:rPr lang="he-IL" dirty="0"/>
              <a:t>עדכון אחרון</a:t>
            </a:r>
          </a:p>
        </p:txBody>
      </p:sp>
      <p:cxnSp>
        <p:nvCxnSpPr>
          <p:cNvPr id="23" name="מחבר חץ ישר 22">
            <a:extLst>
              <a:ext uri="{FF2B5EF4-FFF2-40B4-BE49-F238E27FC236}">
                <a16:creationId xmlns:a16="http://schemas.microsoft.com/office/drawing/2014/main" id="{73298933-0CC4-4D00-A91E-99A8737EFF96}"/>
              </a:ext>
            </a:extLst>
          </p:cNvPr>
          <p:cNvCxnSpPr>
            <a:endCxn id="4" idx="1"/>
          </p:cNvCxnSpPr>
          <p:nvPr/>
        </p:nvCxnSpPr>
        <p:spPr>
          <a:xfrm flipH="1" flipV="1">
            <a:off x="1181100" y="3641360"/>
            <a:ext cx="355092" cy="363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תיבת טקסט 23">
            <a:extLst>
              <a:ext uri="{FF2B5EF4-FFF2-40B4-BE49-F238E27FC236}">
                <a16:creationId xmlns:a16="http://schemas.microsoft.com/office/drawing/2014/main" id="{F0284171-9787-0F18-27C0-147F22D1194E}"/>
              </a:ext>
            </a:extLst>
          </p:cNvPr>
          <p:cNvSpPr txBox="1"/>
          <p:nvPr/>
        </p:nvSpPr>
        <p:spPr>
          <a:xfrm>
            <a:off x="-121920" y="3318272"/>
            <a:ext cx="1344168" cy="646331"/>
          </a:xfrm>
          <a:prstGeom prst="rect">
            <a:avLst/>
          </a:prstGeom>
          <a:noFill/>
        </p:spPr>
        <p:txBody>
          <a:bodyPr wrap="square" rtlCol="1">
            <a:spAutoFit/>
          </a:bodyPr>
          <a:lstStyle/>
          <a:p>
            <a:r>
              <a:rPr lang="he-IL" dirty="0"/>
              <a:t>מי מתחזק את החבילה</a:t>
            </a:r>
          </a:p>
        </p:txBody>
      </p:sp>
      <p:cxnSp>
        <p:nvCxnSpPr>
          <p:cNvPr id="25" name="מחבר חץ ישר 24">
            <a:extLst>
              <a:ext uri="{FF2B5EF4-FFF2-40B4-BE49-F238E27FC236}">
                <a16:creationId xmlns:a16="http://schemas.microsoft.com/office/drawing/2014/main" id="{F83231FF-BCCF-C660-97D4-1E28626D7C0B}"/>
              </a:ext>
            </a:extLst>
          </p:cNvPr>
          <p:cNvCxnSpPr>
            <a:cxnSpLocks/>
          </p:cNvCxnSpPr>
          <p:nvPr/>
        </p:nvCxnSpPr>
        <p:spPr>
          <a:xfrm flipH="1" flipV="1">
            <a:off x="1222248" y="4291198"/>
            <a:ext cx="377952" cy="187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תיבת טקסט 26">
            <a:extLst>
              <a:ext uri="{FF2B5EF4-FFF2-40B4-BE49-F238E27FC236}">
                <a16:creationId xmlns:a16="http://schemas.microsoft.com/office/drawing/2014/main" id="{B2AA69CA-7CD0-BEB8-36BE-0C0523C6249F}"/>
              </a:ext>
            </a:extLst>
          </p:cNvPr>
          <p:cNvSpPr txBox="1"/>
          <p:nvPr/>
        </p:nvSpPr>
        <p:spPr>
          <a:xfrm>
            <a:off x="-167640" y="3988368"/>
            <a:ext cx="1344168" cy="369332"/>
          </a:xfrm>
          <a:prstGeom prst="rect">
            <a:avLst/>
          </a:prstGeom>
          <a:noFill/>
        </p:spPr>
        <p:txBody>
          <a:bodyPr wrap="square" rtlCol="1">
            <a:spAutoFit/>
          </a:bodyPr>
          <a:lstStyle/>
          <a:p>
            <a:r>
              <a:rPr lang="he-IL" dirty="0"/>
              <a:t>המפתח</a:t>
            </a:r>
          </a:p>
        </p:txBody>
      </p:sp>
      <p:cxnSp>
        <p:nvCxnSpPr>
          <p:cNvPr id="28" name="מחבר חץ ישר 27">
            <a:extLst>
              <a:ext uri="{FF2B5EF4-FFF2-40B4-BE49-F238E27FC236}">
                <a16:creationId xmlns:a16="http://schemas.microsoft.com/office/drawing/2014/main" id="{89F34764-4A56-7E03-1372-92B57D5AC504}"/>
              </a:ext>
            </a:extLst>
          </p:cNvPr>
          <p:cNvCxnSpPr>
            <a:cxnSpLocks/>
          </p:cNvCxnSpPr>
          <p:nvPr/>
        </p:nvCxnSpPr>
        <p:spPr>
          <a:xfrm flipH="1" flipV="1">
            <a:off x="1185672" y="4681808"/>
            <a:ext cx="377952" cy="187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תיבת טקסט 28">
            <a:extLst>
              <a:ext uri="{FF2B5EF4-FFF2-40B4-BE49-F238E27FC236}">
                <a16:creationId xmlns:a16="http://schemas.microsoft.com/office/drawing/2014/main" id="{9A9AE70C-E2D9-74E8-46C0-487F0D695CA2}"/>
              </a:ext>
            </a:extLst>
          </p:cNvPr>
          <p:cNvSpPr txBox="1"/>
          <p:nvPr/>
        </p:nvSpPr>
        <p:spPr>
          <a:xfrm>
            <a:off x="-142494" y="4497142"/>
            <a:ext cx="1344168" cy="369332"/>
          </a:xfrm>
          <a:prstGeom prst="rect">
            <a:avLst/>
          </a:prstGeom>
          <a:noFill/>
        </p:spPr>
        <p:txBody>
          <a:bodyPr wrap="square" rtlCol="1">
            <a:spAutoFit/>
          </a:bodyPr>
          <a:lstStyle/>
          <a:p>
            <a:r>
              <a:rPr lang="he-IL" dirty="0"/>
              <a:t>תגיות חיפוש</a:t>
            </a:r>
          </a:p>
        </p:txBody>
      </p:sp>
      <p:cxnSp>
        <p:nvCxnSpPr>
          <p:cNvPr id="30" name="מחבר חץ ישר 29">
            <a:extLst>
              <a:ext uri="{FF2B5EF4-FFF2-40B4-BE49-F238E27FC236}">
                <a16:creationId xmlns:a16="http://schemas.microsoft.com/office/drawing/2014/main" id="{2CFDCFD7-FBD1-F55D-2C38-8C54F4733578}"/>
              </a:ext>
            </a:extLst>
          </p:cNvPr>
          <p:cNvCxnSpPr>
            <a:cxnSpLocks/>
          </p:cNvCxnSpPr>
          <p:nvPr/>
        </p:nvCxnSpPr>
        <p:spPr>
          <a:xfrm flipH="1" flipV="1">
            <a:off x="1222248" y="5358544"/>
            <a:ext cx="377952" cy="187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תיבת טקסט 30">
            <a:extLst>
              <a:ext uri="{FF2B5EF4-FFF2-40B4-BE49-F238E27FC236}">
                <a16:creationId xmlns:a16="http://schemas.microsoft.com/office/drawing/2014/main" id="{D7756D31-F48E-6715-EB86-9B12049CF219}"/>
              </a:ext>
            </a:extLst>
          </p:cNvPr>
          <p:cNvSpPr txBox="1"/>
          <p:nvPr/>
        </p:nvSpPr>
        <p:spPr>
          <a:xfrm>
            <a:off x="-167640" y="5118854"/>
            <a:ext cx="1344168" cy="646331"/>
          </a:xfrm>
          <a:prstGeom prst="rect">
            <a:avLst/>
          </a:prstGeom>
          <a:noFill/>
        </p:spPr>
        <p:txBody>
          <a:bodyPr wrap="square" rtlCol="1">
            <a:spAutoFit/>
          </a:bodyPr>
          <a:lstStyle/>
          <a:p>
            <a:r>
              <a:rPr lang="he-IL" dirty="0"/>
              <a:t>קישורים רשמיים</a:t>
            </a:r>
          </a:p>
        </p:txBody>
      </p:sp>
      <p:sp>
        <p:nvSpPr>
          <p:cNvPr id="32" name="מלבן 31">
            <a:extLst>
              <a:ext uri="{FF2B5EF4-FFF2-40B4-BE49-F238E27FC236}">
                <a16:creationId xmlns:a16="http://schemas.microsoft.com/office/drawing/2014/main" id="{979ABC89-E7DB-3081-381A-DCD6F61CDAF5}"/>
              </a:ext>
            </a:extLst>
          </p:cNvPr>
          <p:cNvSpPr/>
          <p:nvPr/>
        </p:nvSpPr>
        <p:spPr>
          <a:xfrm>
            <a:off x="4206240" y="3955539"/>
            <a:ext cx="4928616" cy="54160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3" name="תיבת טקסט 32">
            <a:extLst>
              <a:ext uri="{FF2B5EF4-FFF2-40B4-BE49-F238E27FC236}">
                <a16:creationId xmlns:a16="http://schemas.microsoft.com/office/drawing/2014/main" id="{263ABF73-1D16-49B8-E21F-7A6C3A324442}"/>
              </a:ext>
            </a:extLst>
          </p:cNvPr>
          <p:cNvSpPr txBox="1"/>
          <p:nvPr/>
        </p:nvSpPr>
        <p:spPr>
          <a:xfrm>
            <a:off x="9165336" y="3913632"/>
            <a:ext cx="847344" cy="646331"/>
          </a:xfrm>
          <a:prstGeom prst="rect">
            <a:avLst/>
          </a:prstGeom>
          <a:noFill/>
        </p:spPr>
        <p:txBody>
          <a:bodyPr wrap="square" rtlCol="1">
            <a:spAutoFit/>
          </a:bodyPr>
          <a:lstStyle/>
          <a:p>
            <a:r>
              <a:rPr lang="he-IL" dirty="0"/>
              <a:t>שיטות התקנה</a:t>
            </a:r>
          </a:p>
        </p:txBody>
      </p:sp>
      <p:sp>
        <p:nvSpPr>
          <p:cNvPr id="34" name="מלבן 33">
            <a:extLst>
              <a:ext uri="{FF2B5EF4-FFF2-40B4-BE49-F238E27FC236}">
                <a16:creationId xmlns:a16="http://schemas.microsoft.com/office/drawing/2014/main" id="{32374A89-A119-D832-84F8-966A289CB10C}"/>
              </a:ext>
            </a:extLst>
          </p:cNvPr>
          <p:cNvSpPr/>
          <p:nvPr/>
        </p:nvSpPr>
        <p:spPr>
          <a:xfrm>
            <a:off x="5907024" y="4529441"/>
            <a:ext cx="1600200" cy="54160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5" name="תיבת טקסט 34">
            <a:extLst>
              <a:ext uri="{FF2B5EF4-FFF2-40B4-BE49-F238E27FC236}">
                <a16:creationId xmlns:a16="http://schemas.microsoft.com/office/drawing/2014/main" id="{336E7084-378E-03DF-D672-4DBBFF5498A3}"/>
              </a:ext>
            </a:extLst>
          </p:cNvPr>
          <p:cNvSpPr txBox="1"/>
          <p:nvPr/>
        </p:nvSpPr>
        <p:spPr>
          <a:xfrm>
            <a:off x="7792212" y="4478487"/>
            <a:ext cx="2046732" cy="1200329"/>
          </a:xfrm>
          <a:prstGeom prst="rect">
            <a:avLst/>
          </a:prstGeom>
          <a:noFill/>
        </p:spPr>
        <p:txBody>
          <a:bodyPr wrap="square" rtlCol="1">
            <a:spAutoFit/>
          </a:bodyPr>
          <a:lstStyle/>
          <a:p>
            <a:r>
              <a:rPr lang="he-IL" dirty="0"/>
              <a:t>מאפשר לבנות סקריפט התקנה אוטומטי (שימושי לארגונים)</a:t>
            </a:r>
          </a:p>
        </p:txBody>
      </p:sp>
      <p:cxnSp>
        <p:nvCxnSpPr>
          <p:cNvPr id="37" name="מחבר חץ ישר 36">
            <a:extLst>
              <a:ext uri="{FF2B5EF4-FFF2-40B4-BE49-F238E27FC236}">
                <a16:creationId xmlns:a16="http://schemas.microsoft.com/office/drawing/2014/main" id="{78473704-809A-C845-DEDE-9AE802D48A4C}"/>
              </a:ext>
            </a:extLst>
          </p:cNvPr>
          <p:cNvCxnSpPr/>
          <p:nvPr/>
        </p:nvCxnSpPr>
        <p:spPr>
          <a:xfrm>
            <a:off x="3685032" y="5870448"/>
            <a:ext cx="1426464" cy="413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תיבת טקסט 37">
            <a:extLst>
              <a:ext uri="{FF2B5EF4-FFF2-40B4-BE49-F238E27FC236}">
                <a16:creationId xmlns:a16="http://schemas.microsoft.com/office/drawing/2014/main" id="{76897AE1-B737-048B-B2A9-DBE31F1E52B9}"/>
              </a:ext>
            </a:extLst>
          </p:cNvPr>
          <p:cNvSpPr txBox="1"/>
          <p:nvPr/>
        </p:nvSpPr>
        <p:spPr>
          <a:xfrm>
            <a:off x="5090922" y="5916382"/>
            <a:ext cx="2524506" cy="646331"/>
          </a:xfrm>
          <a:prstGeom prst="rect">
            <a:avLst/>
          </a:prstGeom>
          <a:noFill/>
        </p:spPr>
        <p:txBody>
          <a:bodyPr wrap="square" rtlCol="1">
            <a:spAutoFit/>
          </a:bodyPr>
          <a:lstStyle/>
          <a:p>
            <a:r>
              <a:rPr lang="he-IL" dirty="0"/>
              <a:t>לשונית עם הפקודות שניתן להריץ בשורת פקודה</a:t>
            </a:r>
          </a:p>
        </p:txBody>
      </p:sp>
    </p:spTree>
    <p:extLst>
      <p:ext uri="{BB962C8B-B14F-4D97-AF65-F5344CB8AC3E}">
        <p14:creationId xmlns:p14="http://schemas.microsoft.com/office/powerpoint/2010/main" val="2179818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45C859C5-290B-9D59-04A6-FD70BBEDF6C4}"/>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A15AC80F-04E6-7DCF-764B-58AC6CCDD69A}"/>
              </a:ext>
            </a:extLst>
          </p:cNvPr>
          <p:cNvSpPr txBox="1"/>
          <p:nvPr/>
        </p:nvSpPr>
        <p:spPr>
          <a:xfrm>
            <a:off x="3685032" y="173736"/>
            <a:ext cx="4517136" cy="584775"/>
          </a:xfrm>
          <a:prstGeom prst="rect">
            <a:avLst/>
          </a:prstGeom>
          <a:noFill/>
        </p:spPr>
        <p:txBody>
          <a:bodyPr wrap="square" rtlCol="1">
            <a:spAutoFit/>
          </a:bodyPr>
          <a:lstStyle/>
          <a:p>
            <a:pPr algn="ct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Chocolatey GUI</a:t>
            </a:r>
            <a:endParaRPr lang="he-IL" sz="3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7" name="תיבת טקסט 6">
            <a:extLst>
              <a:ext uri="{FF2B5EF4-FFF2-40B4-BE49-F238E27FC236}">
                <a16:creationId xmlns:a16="http://schemas.microsoft.com/office/drawing/2014/main" id="{C01CBD27-2296-477C-F9EE-E5B4D36D2E4A}"/>
              </a:ext>
            </a:extLst>
          </p:cNvPr>
          <p:cNvSpPr txBox="1"/>
          <p:nvPr/>
        </p:nvSpPr>
        <p:spPr>
          <a:xfrm>
            <a:off x="590550" y="974690"/>
            <a:ext cx="11010900" cy="830997"/>
          </a:xfrm>
          <a:prstGeom prst="rect">
            <a:avLst/>
          </a:prstGeom>
          <a:noFill/>
        </p:spPr>
        <p:txBody>
          <a:bodyPr wrap="square" rtlCol="1">
            <a:spAutoFit/>
          </a:bodyPr>
          <a:lstStyle/>
          <a:p>
            <a:pPr algn="l" rtl="0"/>
            <a:r>
              <a:rPr lang="en-US" sz="2400" dirty="0">
                <a:solidFill>
                  <a:schemeClr val="bg1"/>
                </a:solidFill>
              </a:rPr>
              <a:t>Chocolatey GUI is designed for users who prefer working with a graphical interface instead of the command line.</a:t>
            </a:r>
            <a:endParaRPr lang="he-IL" sz="2400" dirty="0">
              <a:solidFill>
                <a:schemeClr val="bg1"/>
              </a:solidFill>
            </a:endParaRPr>
          </a:p>
        </p:txBody>
      </p:sp>
      <p:pic>
        <p:nvPicPr>
          <p:cNvPr id="8" name="תמונה 7">
            <a:extLst>
              <a:ext uri="{FF2B5EF4-FFF2-40B4-BE49-F238E27FC236}">
                <a16:creationId xmlns:a16="http://schemas.microsoft.com/office/drawing/2014/main" id="{DBC8F262-83DB-1D12-9C1D-4C2D86E0CF4C}"/>
              </a:ext>
            </a:extLst>
          </p:cNvPr>
          <p:cNvPicPr>
            <a:picLocks noChangeAspect="1"/>
          </p:cNvPicPr>
          <p:nvPr/>
        </p:nvPicPr>
        <p:blipFill>
          <a:blip r:embed="rId3"/>
          <a:stretch>
            <a:fillRect/>
          </a:stretch>
        </p:blipFill>
        <p:spPr>
          <a:xfrm>
            <a:off x="805054" y="2184845"/>
            <a:ext cx="5057775" cy="2659760"/>
          </a:xfrm>
          <a:prstGeom prst="rect">
            <a:avLst/>
          </a:prstGeom>
        </p:spPr>
      </p:pic>
      <p:pic>
        <p:nvPicPr>
          <p:cNvPr id="11" name="תמונה 10">
            <a:extLst>
              <a:ext uri="{FF2B5EF4-FFF2-40B4-BE49-F238E27FC236}">
                <a16:creationId xmlns:a16="http://schemas.microsoft.com/office/drawing/2014/main" id="{48A1CCFD-A6BC-A60D-9997-57DC1D814025}"/>
              </a:ext>
            </a:extLst>
          </p:cNvPr>
          <p:cNvPicPr>
            <a:picLocks noChangeAspect="1"/>
          </p:cNvPicPr>
          <p:nvPr/>
        </p:nvPicPr>
        <p:blipFill>
          <a:blip r:embed="rId4"/>
          <a:stretch>
            <a:fillRect/>
          </a:stretch>
        </p:blipFill>
        <p:spPr>
          <a:xfrm>
            <a:off x="6214872" y="3429000"/>
            <a:ext cx="5670423" cy="3000760"/>
          </a:xfrm>
          <a:prstGeom prst="rect">
            <a:avLst/>
          </a:prstGeom>
        </p:spPr>
      </p:pic>
    </p:spTree>
    <p:extLst>
      <p:ext uri="{BB962C8B-B14F-4D97-AF65-F5344CB8AC3E}">
        <p14:creationId xmlns:p14="http://schemas.microsoft.com/office/powerpoint/2010/main" val="1704084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074417C4-422F-167A-C16F-CF57A386BB73}"/>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F827FFA4-9700-336B-4047-79353752B5A8}"/>
              </a:ext>
            </a:extLst>
          </p:cNvPr>
          <p:cNvSpPr txBox="1"/>
          <p:nvPr/>
        </p:nvSpPr>
        <p:spPr>
          <a:xfrm>
            <a:off x="3685032" y="173736"/>
            <a:ext cx="4517136" cy="584775"/>
          </a:xfrm>
          <a:prstGeom prst="rect">
            <a:avLst/>
          </a:prstGeom>
          <a:noFill/>
        </p:spPr>
        <p:txBody>
          <a:bodyPr wrap="square" rtlCol="1">
            <a:spAutoFit/>
          </a:bodyPr>
          <a:lstStyle/>
          <a:p>
            <a:pPr algn="ct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Chocolatey GUI</a:t>
            </a:r>
            <a:endParaRPr lang="he-IL" sz="3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4" name="תמונה 3">
            <a:extLst>
              <a:ext uri="{FF2B5EF4-FFF2-40B4-BE49-F238E27FC236}">
                <a16:creationId xmlns:a16="http://schemas.microsoft.com/office/drawing/2014/main" id="{C7FA1CF3-BFBD-C713-8BBF-14AE1482BCDC}"/>
              </a:ext>
            </a:extLst>
          </p:cNvPr>
          <p:cNvPicPr>
            <a:picLocks noChangeAspect="1"/>
          </p:cNvPicPr>
          <p:nvPr/>
        </p:nvPicPr>
        <p:blipFill>
          <a:blip r:embed="rId3"/>
          <a:stretch>
            <a:fillRect/>
          </a:stretch>
        </p:blipFill>
        <p:spPr>
          <a:xfrm>
            <a:off x="1019339" y="2623721"/>
            <a:ext cx="4820323" cy="2343477"/>
          </a:xfrm>
          <a:prstGeom prst="rect">
            <a:avLst/>
          </a:prstGeom>
        </p:spPr>
      </p:pic>
      <p:pic>
        <p:nvPicPr>
          <p:cNvPr id="6" name="תמונה 5">
            <a:extLst>
              <a:ext uri="{FF2B5EF4-FFF2-40B4-BE49-F238E27FC236}">
                <a16:creationId xmlns:a16="http://schemas.microsoft.com/office/drawing/2014/main" id="{916E56FB-5F44-89A5-3AB9-D836758C6F87}"/>
              </a:ext>
            </a:extLst>
          </p:cNvPr>
          <p:cNvPicPr>
            <a:picLocks noChangeAspect="1"/>
          </p:cNvPicPr>
          <p:nvPr/>
        </p:nvPicPr>
        <p:blipFill>
          <a:blip r:embed="rId4"/>
          <a:stretch>
            <a:fillRect/>
          </a:stretch>
        </p:blipFill>
        <p:spPr>
          <a:xfrm>
            <a:off x="6509657" y="3932955"/>
            <a:ext cx="4893188" cy="2673673"/>
          </a:xfrm>
          <a:prstGeom prst="rect">
            <a:avLst/>
          </a:prstGeom>
        </p:spPr>
      </p:pic>
      <p:sp>
        <p:nvSpPr>
          <p:cNvPr id="7" name="תיבת טקסט 6">
            <a:extLst>
              <a:ext uri="{FF2B5EF4-FFF2-40B4-BE49-F238E27FC236}">
                <a16:creationId xmlns:a16="http://schemas.microsoft.com/office/drawing/2014/main" id="{E9FA7E8A-E305-A0DC-8F73-2C5B07D1B385}"/>
              </a:ext>
            </a:extLst>
          </p:cNvPr>
          <p:cNvSpPr txBox="1"/>
          <p:nvPr/>
        </p:nvSpPr>
        <p:spPr>
          <a:xfrm>
            <a:off x="590550" y="967473"/>
            <a:ext cx="11010900" cy="1200329"/>
          </a:xfrm>
          <a:prstGeom prst="rect">
            <a:avLst/>
          </a:prstGeom>
          <a:noFill/>
        </p:spPr>
        <p:txBody>
          <a:bodyPr wrap="square" rtlCol="1">
            <a:spAutoFit/>
          </a:bodyPr>
          <a:lstStyle/>
          <a:p>
            <a:pPr algn="l" rtl="0"/>
            <a:r>
              <a:rPr lang="en-US" sz="2400" dirty="0">
                <a:solidFill>
                  <a:schemeClr val="bg1"/>
                </a:solidFill>
              </a:rPr>
              <a:t>To install the graphical interface, you need to enter the following command in the command line:</a:t>
            </a:r>
          </a:p>
          <a:p>
            <a:pPr algn="ctr" rtl="0"/>
            <a:r>
              <a:rPr lang="en-US" sz="2400" dirty="0" err="1">
                <a:solidFill>
                  <a:schemeClr val="bg1"/>
                </a:solidFill>
              </a:rPr>
              <a:t>choco</a:t>
            </a:r>
            <a:r>
              <a:rPr lang="en-US" sz="2400" dirty="0">
                <a:solidFill>
                  <a:schemeClr val="bg1"/>
                </a:solidFill>
              </a:rPr>
              <a:t> install </a:t>
            </a:r>
            <a:r>
              <a:rPr lang="en-US" sz="2400" dirty="0" err="1">
                <a:solidFill>
                  <a:schemeClr val="bg1"/>
                </a:solidFill>
              </a:rPr>
              <a:t>chocolateygui</a:t>
            </a:r>
            <a:endParaRPr lang="he-IL" sz="2400" dirty="0">
              <a:solidFill>
                <a:schemeClr val="bg1"/>
              </a:solidFill>
            </a:endParaRPr>
          </a:p>
        </p:txBody>
      </p:sp>
    </p:spTree>
    <p:extLst>
      <p:ext uri="{BB962C8B-B14F-4D97-AF65-F5344CB8AC3E}">
        <p14:creationId xmlns:p14="http://schemas.microsoft.com/office/powerpoint/2010/main" val="233151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EECDDAF1-9C6F-1E94-CBA0-EF221D95CBE6}"/>
            </a:ext>
          </a:extLst>
        </p:cNvPr>
        <p:cNvGrpSpPr/>
        <p:nvPr/>
      </p:nvGrpSpPr>
      <p:grpSpPr>
        <a:xfrm>
          <a:off x="0" y="0"/>
          <a:ext cx="0" cy="0"/>
          <a:chOff x="0" y="0"/>
          <a:chExt cx="0" cy="0"/>
        </a:xfrm>
      </p:grpSpPr>
      <p:pic>
        <p:nvPicPr>
          <p:cNvPr id="6146" name="Picture 2" descr="Log in | Chocolatey Central Management">
            <a:extLst>
              <a:ext uri="{FF2B5EF4-FFF2-40B4-BE49-F238E27FC236}">
                <a16:creationId xmlns:a16="http://schemas.microsoft.com/office/drawing/2014/main" id="{8845495A-0649-4D5E-FF86-7E15C6CF520F}"/>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83711" y="182227"/>
            <a:ext cx="4000500" cy="1900822"/>
          </a:xfrm>
          <a:prstGeom prst="rect">
            <a:avLst/>
          </a:prstGeom>
          <a:noFill/>
          <a:extLst>
            <a:ext uri="{909E8E84-426E-40DD-AFC4-6F175D3DCCD1}">
              <a14:hiddenFill xmlns:a14="http://schemas.microsoft.com/office/drawing/2010/main">
                <a:solidFill>
                  <a:srgbClr val="FFFFFF"/>
                </a:solidFill>
              </a14:hiddenFill>
            </a:ext>
          </a:extLst>
        </p:spPr>
      </p:pic>
      <p:sp>
        <p:nvSpPr>
          <p:cNvPr id="3" name="תיבת טקסט 2">
            <a:extLst>
              <a:ext uri="{FF2B5EF4-FFF2-40B4-BE49-F238E27FC236}">
                <a16:creationId xmlns:a16="http://schemas.microsoft.com/office/drawing/2014/main" id="{FD7F3883-BD33-4919-2823-1B9683BD758E}"/>
              </a:ext>
            </a:extLst>
          </p:cNvPr>
          <p:cNvSpPr txBox="1"/>
          <p:nvPr/>
        </p:nvSpPr>
        <p:spPr>
          <a:xfrm>
            <a:off x="1142999" y="2521059"/>
            <a:ext cx="10232572"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Neue Haas Grotesk Text Pro"/>
                <a:ea typeface="+mn-ea"/>
                <a:cs typeface="+mn-cs"/>
              </a:rPr>
              <a:t>A central dashboard that lets you manage software for your entire organization. It gives you full control to see what is installed on every computer, and allows you to run updates and installations automatically from one place</a:t>
            </a:r>
            <a:endParaRPr kumimoji="0" lang="he-IL" sz="2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Tree>
    <p:extLst>
      <p:ext uri="{BB962C8B-B14F-4D97-AF65-F5344CB8AC3E}">
        <p14:creationId xmlns:p14="http://schemas.microsoft.com/office/powerpoint/2010/main" val="744054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02F3C"/>
        </a:solidFill>
        <a:effectLst/>
      </p:bgPr>
    </p:bg>
    <p:spTree>
      <p:nvGrpSpPr>
        <p:cNvPr id="1" name="">
          <a:extLst>
            <a:ext uri="{FF2B5EF4-FFF2-40B4-BE49-F238E27FC236}">
              <a16:creationId xmlns:a16="http://schemas.microsoft.com/office/drawing/2014/main" id="{2BA5E7D1-E713-66C6-4BA0-37470DB5E5E6}"/>
            </a:ext>
          </a:extLst>
        </p:cNvPr>
        <p:cNvGrpSpPr/>
        <p:nvPr/>
      </p:nvGrpSpPr>
      <p:grpSpPr>
        <a:xfrm>
          <a:off x="0" y="0"/>
          <a:ext cx="0" cy="0"/>
          <a:chOff x="0" y="0"/>
          <a:chExt cx="0" cy="0"/>
        </a:xfrm>
      </p:grpSpPr>
      <p:pic>
        <p:nvPicPr>
          <p:cNvPr id="6146" name="Picture 2" descr="Log in | Chocolatey Central Management">
            <a:extLst>
              <a:ext uri="{FF2B5EF4-FFF2-40B4-BE49-F238E27FC236}">
                <a16:creationId xmlns:a16="http://schemas.microsoft.com/office/drawing/2014/main" id="{49C7155F-A009-6C23-79AC-AAAC905E93C8}"/>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631311" y="179438"/>
            <a:ext cx="4000500" cy="1900822"/>
          </a:xfrm>
          <a:prstGeom prst="rect">
            <a:avLst/>
          </a:prstGeom>
          <a:noFill/>
          <a:extLst>
            <a:ext uri="{909E8E84-426E-40DD-AFC4-6F175D3DCCD1}">
              <a14:hiddenFill xmlns:a14="http://schemas.microsoft.com/office/drawing/2010/main">
                <a:solidFill>
                  <a:srgbClr val="FFFFFF"/>
                </a:solidFill>
              </a14:hiddenFill>
            </a:ext>
          </a:extLst>
        </p:spPr>
      </p:pic>
      <p:sp>
        <p:nvSpPr>
          <p:cNvPr id="17" name="אליפסה 16">
            <a:extLst>
              <a:ext uri="{FF2B5EF4-FFF2-40B4-BE49-F238E27FC236}">
                <a16:creationId xmlns:a16="http://schemas.microsoft.com/office/drawing/2014/main" id="{7F531033-7538-A8E6-93F0-616F3D373498}"/>
              </a:ext>
            </a:extLst>
          </p:cNvPr>
          <p:cNvSpPr/>
          <p:nvPr/>
        </p:nvSpPr>
        <p:spPr>
          <a:xfrm>
            <a:off x="435429" y="2560320"/>
            <a:ext cx="2938706" cy="868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400" dirty="0"/>
              <a:t>Deployments</a:t>
            </a:r>
            <a:endParaRPr lang="he-IL" dirty="0"/>
          </a:p>
        </p:txBody>
      </p:sp>
      <p:sp>
        <p:nvSpPr>
          <p:cNvPr id="18" name="אליפסה 17">
            <a:extLst>
              <a:ext uri="{FF2B5EF4-FFF2-40B4-BE49-F238E27FC236}">
                <a16:creationId xmlns:a16="http://schemas.microsoft.com/office/drawing/2014/main" id="{B41602F0-AA0B-3BF6-37E1-8EB2ECDA01C0}"/>
              </a:ext>
            </a:extLst>
          </p:cNvPr>
          <p:cNvSpPr/>
          <p:nvPr/>
        </p:nvSpPr>
        <p:spPr>
          <a:xfrm>
            <a:off x="4361635" y="2545902"/>
            <a:ext cx="2938705" cy="868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400" dirty="0"/>
              <a:t>Reporting</a:t>
            </a:r>
            <a:r>
              <a:rPr lang="en-US" dirty="0"/>
              <a:t> </a:t>
            </a:r>
            <a:endParaRPr lang="he-IL" dirty="0"/>
          </a:p>
        </p:txBody>
      </p:sp>
      <p:sp>
        <p:nvSpPr>
          <p:cNvPr id="19" name="אליפסה 18">
            <a:extLst>
              <a:ext uri="{FF2B5EF4-FFF2-40B4-BE49-F238E27FC236}">
                <a16:creationId xmlns:a16="http://schemas.microsoft.com/office/drawing/2014/main" id="{5EBAB4E3-2B4E-A04D-932C-FF6A5D00E86D}"/>
              </a:ext>
            </a:extLst>
          </p:cNvPr>
          <p:cNvSpPr/>
          <p:nvPr/>
        </p:nvSpPr>
        <p:spPr>
          <a:xfrm>
            <a:off x="8474201" y="2560320"/>
            <a:ext cx="3162300" cy="868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400" dirty="0"/>
              <a:t>Scheduled Deployments </a:t>
            </a:r>
            <a:endParaRPr lang="he-IL" sz="2400" dirty="0"/>
          </a:p>
        </p:txBody>
      </p:sp>
      <p:sp>
        <p:nvSpPr>
          <p:cNvPr id="20" name="אליפסה 19">
            <a:extLst>
              <a:ext uri="{FF2B5EF4-FFF2-40B4-BE49-F238E27FC236}">
                <a16:creationId xmlns:a16="http://schemas.microsoft.com/office/drawing/2014/main" id="{DAACE8EF-31E9-C15A-C9D4-E9D718863731}"/>
              </a:ext>
            </a:extLst>
          </p:cNvPr>
          <p:cNvSpPr/>
          <p:nvPr/>
        </p:nvSpPr>
        <p:spPr>
          <a:xfrm>
            <a:off x="2094520" y="4503908"/>
            <a:ext cx="3073581" cy="11425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400" dirty="0"/>
              <a:t>Maintenance Windows </a:t>
            </a:r>
            <a:endParaRPr lang="he-IL" sz="2400" dirty="0"/>
          </a:p>
        </p:txBody>
      </p:sp>
      <p:sp>
        <p:nvSpPr>
          <p:cNvPr id="21" name="אליפסה 20">
            <a:extLst>
              <a:ext uri="{FF2B5EF4-FFF2-40B4-BE49-F238E27FC236}">
                <a16:creationId xmlns:a16="http://schemas.microsoft.com/office/drawing/2014/main" id="{E7F04781-4721-7369-7326-D3FA008F1B30}"/>
              </a:ext>
            </a:extLst>
          </p:cNvPr>
          <p:cNvSpPr/>
          <p:nvPr/>
        </p:nvSpPr>
        <p:spPr>
          <a:xfrm>
            <a:off x="6937410" y="4509606"/>
            <a:ext cx="3073581" cy="11569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400" dirty="0"/>
              <a:t>Semi-Connected Environments</a:t>
            </a:r>
            <a:endParaRPr lang="he-IL" sz="2400" dirty="0"/>
          </a:p>
        </p:txBody>
      </p:sp>
      <p:sp>
        <p:nvSpPr>
          <p:cNvPr id="23" name="תיבת טקסט 22">
            <a:extLst>
              <a:ext uri="{FF2B5EF4-FFF2-40B4-BE49-F238E27FC236}">
                <a16:creationId xmlns:a16="http://schemas.microsoft.com/office/drawing/2014/main" id="{A3BC9012-CD62-6FAC-A3E6-18813C789A72}"/>
              </a:ext>
            </a:extLst>
          </p:cNvPr>
          <p:cNvSpPr txBox="1"/>
          <p:nvPr/>
        </p:nvSpPr>
        <p:spPr>
          <a:xfrm>
            <a:off x="435429" y="3497580"/>
            <a:ext cx="3162301" cy="1015663"/>
          </a:xfrm>
          <a:prstGeom prst="rect">
            <a:avLst/>
          </a:prstGeom>
          <a:noFill/>
        </p:spPr>
        <p:txBody>
          <a:bodyPr wrap="square">
            <a:spAutoFit/>
          </a:bodyPr>
          <a:lstStyle/>
          <a:p>
            <a:pPr algn="ctr"/>
            <a:r>
              <a:rPr lang="en-US" sz="2000" dirty="0">
                <a:solidFill>
                  <a:schemeClr val="bg1"/>
                </a:solidFill>
              </a:rPr>
              <a:t>Centralized software installation across multiple machines</a:t>
            </a:r>
            <a:endParaRPr lang="he-IL" sz="2000" dirty="0">
              <a:solidFill>
                <a:schemeClr val="bg1"/>
              </a:solidFill>
            </a:endParaRPr>
          </a:p>
        </p:txBody>
      </p:sp>
      <p:sp>
        <p:nvSpPr>
          <p:cNvPr id="25" name="תיבת טקסט 24">
            <a:extLst>
              <a:ext uri="{FF2B5EF4-FFF2-40B4-BE49-F238E27FC236}">
                <a16:creationId xmlns:a16="http://schemas.microsoft.com/office/drawing/2014/main" id="{57CF41B9-ABC8-06F3-78FC-0AEE56AF145E}"/>
              </a:ext>
            </a:extLst>
          </p:cNvPr>
          <p:cNvSpPr txBox="1"/>
          <p:nvPr/>
        </p:nvSpPr>
        <p:spPr>
          <a:xfrm>
            <a:off x="4279009" y="3497580"/>
            <a:ext cx="3162301" cy="707886"/>
          </a:xfrm>
          <a:prstGeom prst="rect">
            <a:avLst/>
          </a:prstGeom>
          <a:noFill/>
        </p:spPr>
        <p:txBody>
          <a:bodyPr wrap="square">
            <a:spAutoFit/>
          </a:bodyPr>
          <a:lstStyle/>
          <a:p>
            <a:pPr algn="ctr"/>
            <a:r>
              <a:rPr lang="en-US" sz="2000" dirty="0">
                <a:solidFill>
                  <a:schemeClr val="bg1"/>
                </a:solidFill>
              </a:rPr>
              <a:t>Displays the status and results of deployments</a:t>
            </a:r>
            <a:endParaRPr lang="he-IL" sz="2000" dirty="0">
              <a:solidFill>
                <a:schemeClr val="bg1"/>
              </a:solidFill>
            </a:endParaRPr>
          </a:p>
        </p:txBody>
      </p:sp>
      <p:sp>
        <p:nvSpPr>
          <p:cNvPr id="26" name="תיבת טקסט 25">
            <a:extLst>
              <a:ext uri="{FF2B5EF4-FFF2-40B4-BE49-F238E27FC236}">
                <a16:creationId xmlns:a16="http://schemas.microsoft.com/office/drawing/2014/main" id="{A6B84DE6-8DA4-B239-A600-6371272DF3A2}"/>
              </a:ext>
            </a:extLst>
          </p:cNvPr>
          <p:cNvSpPr txBox="1"/>
          <p:nvPr/>
        </p:nvSpPr>
        <p:spPr>
          <a:xfrm>
            <a:off x="8521063" y="3449595"/>
            <a:ext cx="3162301" cy="1015663"/>
          </a:xfrm>
          <a:prstGeom prst="rect">
            <a:avLst/>
          </a:prstGeom>
          <a:noFill/>
        </p:spPr>
        <p:txBody>
          <a:bodyPr wrap="square">
            <a:spAutoFit/>
          </a:bodyPr>
          <a:lstStyle/>
          <a:p>
            <a:pPr algn="ctr"/>
            <a:r>
              <a:rPr lang="en-US" sz="2000" dirty="0">
                <a:solidFill>
                  <a:schemeClr val="bg1"/>
                </a:solidFill>
              </a:rPr>
              <a:t>Runs deployments automatically at scheduled times</a:t>
            </a:r>
            <a:endParaRPr lang="he-IL" sz="2000" dirty="0">
              <a:solidFill>
                <a:schemeClr val="bg1"/>
              </a:solidFill>
            </a:endParaRPr>
          </a:p>
        </p:txBody>
      </p:sp>
      <p:sp>
        <p:nvSpPr>
          <p:cNvPr id="27" name="תיבת טקסט 26">
            <a:extLst>
              <a:ext uri="{FF2B5EF4-FFF2-40B4-BE49-F238E27FC236}">
                <a16:creationId xmlns:a16="http://schemas.microsoft.com/office/drawing/2014/main" id="{431B091F-E1C0-84BA-8690-FEF74B763DA0}"/>
              </a:ext>
            </a:extLst>
          </p:cNvPr>
          <p:cNvSpPr txBox="1"/>
          <p:nvPr/>
        </p:nvSpPr>
        <p:spPr>
          <a:xfrm>
            <a:off x="2153411" y="5755232"/>
            <a:ext cx="3162301" cy="707886"/>
          </a:xfrm>
          <a:prstGeom prst="rect">
            <a:avLst/>
          </a:prstGeom>
          <a:noFill/>
        </p:spPr>
        <p:txBody>
          <a:bodyPr wrap="square">
            <a:spAutoFit/>
          </a:bodyPr>
          <a:lstStyle/>
          <a:p>
            <a:pPr algn="ctr"/>
            <a:r>
              <a:rPr lang="en-US" sz="2000" dirty="0">
                <a:solidFill>
                  <a:schemeClr val="bg1"/>
                </a:solidFill>
              </a:rPr>
              <a:t>Restricts deployments to approved time periods</a:t>
            </a:r>
            <a:endParaRPr lang="he-IL" sz="2000" dirty="0">
              <a:solidFill>
                <a:schemeClr val="bg1"/>
              </a:solidFill>
            </a:endParaRPr>
          </a:p>
        </p:txBody>
      </p:sp>
      <p:sp>
        <p:nvSpPr>
          <p:cNvPr id="28" name="תיבת טקסט 27">
            <a:extLst>
              <a:ext uri="{FF2B5EF4-FFF2-40B4-BE49-F238E27FC236}">
                <a16:creationId xmlns:a16="http://schemas.microsoft.com/office/drawing/2014/main" id="{929D0408-D5CC-2162-0614-2D1A07F096AB}"/>
              </a:ext>
            </a:extLst>
          </p:cNvPr>
          <p:cNvSpPr txBox="1"/>
          <p:nvPr/>
        </p:nvSpPr>
        <p:spPr>
          <a:xfrm>
            <a:off x="6939913" y="5755232"/>
            <a:ext cx="3162301" cy="1015663"/>
          </a:xfrm>
          <a:prstGeom prst="rect">
            <a:avLst/>
          </a:prstGeom>
          <a:noFill/>
        </p:spPr>
        <p:txBody>
          <a:bodyPr wrap="square">
            <a:spAutoFit/>
          </a:bodyPr>
          <a:lstStyle/>
          <a:p>
            <a:pPr algn="ctr"/>
            <a:r>
              <a:rPr lang="en-US" sz="2000" dirty="0">
                <a:solidFill>
                  <a:schemeClr val="bg1"/>
                </a:solidFill>
              </a:rPr>
              <a:t>Supports deployments with limited or no internet access.</a:t>
            </a:r>
            <a:endParaRPr lang="he-IL" sz="2000" dirty="0">
              <a:solidFill>
                <a:schemeClr val="bg1"/>
              </a:solidFill>
            </a:endParaRPr>
          </a:p>
        </p:txBody>
      </p:sp>
    </p:spTree>
    <p:extLst>
      <p:ext uri="{BB962C8B-B14F-4D97-AF65-F5344CB8AC3E}">
        <p14:creationId xmlns:p14="http://schemas.microsoft.com/office/powerpoint/2010/main" val="3501104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90C6BA-34A3-810D-8CB7-D72DA7137F1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5D3817B-01DA-DCDA-FA18-49D6FF003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תמונה 3" descr="תמונה שמכילה טקסט, צילום מסך, תוכנה, תכונות מולטימדיה&#10;&#10;תוכן בינה מלאכותית גנרטיבית עשוי להיות שגוי.">
            <a:extLst>
              <a:ext uri="{FF2B5EF4-FFF2-40B4-BE49-F238E27FC236}">
                <a16:creationId xmlns:a16="http://schemas.microsoft.com/office/drawing/2014/main" id="{4EA0E5CC-7936-6A2E-6A5B-113237C698E6}"/>
              </a:ext>
            </a:extLst>
          </p:cNvPr>
          <p:cNvPicPr>
            <a:picLocks noChangeAspect="1"/>
          </p:cNvPicPr>
          <p:nvPr/>
        </p:nvPicPr>
        <p:blipFill>
          <a:blip r:embed="rId3"/>
          <a:srcRect r="1334"/>
          <a:stretch>
            <a:fillRect/>
          </a:stretch>
        </p:blipFill>
        <p:spPr>
          <a:xfrm>
            <a:off x="20" y="10"/>
            <a:ext cx="12191980" cy="6857990"/>
          </a:xfrm>
          <a:prstGeom prst="rect">
            <a:avLst/>
          </a:prstGeom>
        </p:spPr>
      </p:pic>
    </p:spTree>
    <p:extLst>
      <p:ext uri="{BB962C8B-B14F-4D97-AF65-F5344CB8AC3E}">
        <p14:creationId xmlns:p14="http://schemas.microsoft.com/office/powerpoint/2010/main" val="1592269603"/>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7701</TotalTime>
  <Words>1507</Words>
  <Application>Microsoft Office PowerPoint</Application>
  <PresentationFormat>מסך רחב</PresentationFormat>
  <Paragraphs>121</Paragraphs>
  <Slides>15</Slides>
  <Notes>14</Notes>
  <HiddenSlides>1</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15</vt:i4>
      </vt:variant>
    </vt:vector>
  </HeadingPairs>
  <TitlesOfParts>
    <vt:vector size="21" baseType="lpstr">
      <vt:lpstr>Aptos</vt:lpstr>
      <vt:lpstr>Arial</vt:lpstr>
      <vt:lpstr>Berlin Sans FB Demi</vt:lpstr>
      <vt:lpstr>Neue Haas Grotesk Text Pro</vt:lpstr>
      <vt:lpstr>Tahoma</vt:lpstr>
      <vt:lpstr>VanillaVTI</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עמית דרעי</dc:creator>
  <cp:lastModifiedBy>עמית דרעי</cp:lastModifiedBy>
  <cp:revision>9</cp:revision>
  <dcterms:created xsi:type="dcterms:W3CDTF">2025-12-19T11:04:19Z</dcterms:created>
  <dcterms:modified xsi:type="dcterms:W3CDTF">2026-01-23T11:54:24Z</dcterms:modified>
</cp:coreProperties>
</file>